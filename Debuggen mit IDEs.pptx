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57"/>
  </p:notesMasterIdLst>
  <p:sldIdLst>
    <p:sldId id="339" r:id="rId2"/>
    <p:sldId id="359" r:id="rId3"/>
    <p:sldId id="378" r:id="rId4"/>
    <p:sldId id="361" r:id="rId5"/>
    <p:sldId id="392" r:id="rId6"/>
    <p:sldId id="344" r:id="rId7"/>
    <p:sldId id="360" r:id="rId8"/>
    <p:sldId id="341" r:id="rId9"/>
    <p:sldId id="345" r:id="rId10"/>
    <p:sldId id="340" r:id="rId11"/>
    <p:sldId id="366" r:id="rId12"/>
    <p:sldId id="369" r:id="rId13"/>
    <p:sldId id="370" r:id="rId14"/>
    <p:sldId id="371" r:id="rId15"/>
    <p:sldId id="358" r:id="rId16"/>
    <p:sldId id="333" r:id="rId17"/>
    <p:sldId id="365" r:id="rId18"/>
    <p:sldId id="343" r:id="rId19"/>
    <p:sldId id="362" r:id="rId20"/>
    <p:sldId id="336" r:id="rId21"/>
    <p:sldId id="334" r:id="rId22"/>
    <p:sldId id="337" r:id="rId23"/>
    <p:sldId id="335" r:id="rId24"/>
    <p:sldId id="367" r:id="rId25"/>
    <p:sldId id="338" r:id="rId26"/>
    <p:sldId id="364" r:id="rId27"/>
    <p:sldId id="373" r:id="rId28"/>
    <p:sldId id="385" r:id="rId29"/>
    <p:sldId id="386" r:id="rId30"/>
    <p:sldId id="376" r:id="rId31"/>
    <p:sldId id="372" r:id="rId32"/>
    <p:sldId id="375" r:id="rId33"/>
    <p:sldId id="356" r:id="rId34"/>
    <p:sldId id="342" r:id="rId35"/>
    <p:sldId id="347" r:id="rId36"/>
    <p:sldId id="348" r:id="rId37"/>
    <p:sldId id="350" r:id="rId38"/>
    <p:sldId id="349" r:id="rId39"/>
    <p:sldId id="352" r:id="rId40"/>
    <p:sldId id="355" r:id="rId41"/>
    <p:sldId id="351" r:id="rId42"/>
    <p:sldId id="381" r:id="rId43"/>
    <p:sldId id="382" r:id="rId44"/>
    <p:sldId id="383" r:id="rId45"/>
    <p:sldId id="353" r:id="rId46"/>
    <p:sldId id="363" r:id="rId47"/>
    <p:sldId id="393" r:id="rId48"/>
    <p:sldId id="354" r:id="rId49"/>
    <p:sldId id="377" r:id="rId50"/>
    <p:sldId id="389" r:id="rId51"/>
    <p:sldId id="374" r:id="rId52"/>
    <p:sldId id="387" r:id="rId53"/>
    <p:sldId id="388" r:id="rId54"/>
    <p:sldId id="390" r:id="rId55"/>
    <p:sldId id="391" r:id="rId56"/>
  </p:sldIdLst>
  <p:sldSz cx="12192000" cy="6858000"/>
  <p:notesSz cx="6858000" cy="9144000"/>
  <p:custShowLst>
    <p:custShow name="NUR DEBUGGING" id="0">
      <p:sldLst>
        <p:sld r:id="rId17"/>
        <p:sld r:id="rId18"/>
        <p:sld r:id="rId19"/>
        <p:sld r:id="rId20"/>
        <p:sld r:id="rId21"/>
        <p:sld r:id="rId22"/>
        <p:sld r:id="rId23"/>
        <p:sld r:id="rId24"/>
        <p:sld r:id="rId25"/>
        <p:sld r:id="rId26"/>
        <p:sld r:id="rId27"/>
        <p:sld r:id="rId28"/>
        <p:sld r:id="rId29"/>
        <p:sld r:id="rId30"/>
        <p:sld r:id="rId53"/>
        <p:sld r:id="rId54"/>
      </p:sldLst>
    </p:custShow>
  </p:custShowLst>
  <p:defaultTextStyle>
    <a:defPPr>
      <a:defRPr lang="de-DE"/>
    </a:defPPr>
    <a:lvl1pPr marL="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1pPr>
    <a:lvl2pPr marL="4114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2pPr>
    <a:lvl3pPr marL="8229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3pPr>
    <a:lvl4pPr marL="12344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4pPr>
    <a:lvl5pPr marL="164592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5pPr>
    <a:lvl6pPr marL="205740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6pPr>
    <a:lvl7pPr marL="246888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7pPr>
    <a:lvl8pPr marL="288036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8pPr>
    <a:lvl9pPr marL="3291840" algn="l" defTabSz="822960" rtl="0" eaLnBrk="1" latinLnBrk="0" hangingPunct="1">
      <a:defRPr sz="16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56B7BFD-65E4-4169-930B-63C79A23BF9E}">
          <p14:sldIdLst>
            <p14:sldId id="339"/>
            <p14:sldId id="359"/>
            <p14:sldId id="378"/>
            <p14:sldId id="361"/>
            <p14:sldId id="392"/>
            <p14:sldId id="344"/>
          </p14:sldIdLst>
        </p14:section>
        <p14:section name="Wie es nicht geht" id="{4A9A96F2-2B61-46B4-BBCE-E87E5AEABD3E}">
          <p14:sldIdLst>
            <p14:sldId id="360"/>
            <p14:sldId id="341"/>
            <p14:sldId id="345"/>
          </p14:sldIdLst>
        </p14:section>
        <p14:section name="Grundlagen" id="{225FE61C-BFFA-46D7-B5BF-D3185FDCA484}">
          <p14:sldIdLst/>
        </p14:section>
        <p14:section name="Stacktrace" id="{7DD7565E-42D8-46A9-A02F-CDAE4C4A68E6}">
          <p14:sldIdLst>
            <p14:sldId id="340"/>
            <p14:sldId id="366"/>
            <p14:sldId id="369"/>
            <p14:sldId id="370"/>
            <p14:sldId id="371"/>
          </p14:sldIdLst>
        </p14:section>
        <p14:section name="Debugger" id="{79FA8CC2-5789-480A-9497-E42B06B579AC}">
          <p14:sldIdLst>
            <p14:sldId id="358"/>
            <p14:sldId id="333"/>
            <p14:sldId id="365"/>
            <p14:sldId id="343"/>
            <p14:sldId id="362"/>
            <p14:sldId id="336"/>
            <p14:sldId id="334"/>
            <p14:sldId id="337"/>
            <p14:sldId id="335"/>
            <p14:sldId id="367"/>
            <p14:sldId id="338"/>
            <p14:sldId id="364"/>
            <p14:sldId id="373"/>
            <p14:sldId id="385"/>
            <p14:sldId id="386"/>
          </p14:sldIdLst>
        </p14:section>
        <p14:section name="Tests in einer IDE" id="{AAC04567-6F10-407C-ADC6-55EDB28D9FEF}">
          <p14:sldIdLst>
            <p14:sldId id="376"/>
            <p14:sldId id="372"/>
            <p14:sldId id="375"/>
            <p14:sldId id="356"/>
          </p14:sldIdLst>
        </p14:section>
        <p14:section name="Tests in IDE" id="{CBDA5ED3-944A-420D-B9EE-98ECC96DF2F8}">
          <p14:sldIdLst>
            <p14:sldId id="342"/>
            <p14:sldId id="347"/>
            <p14:sldId id="348"/>
          </p14:sldIdLst>
        </p14:section>
        <p14:section name="Das Beispiel" id="{0A37980D-33F7-40D2-9578-A0C254F55313}">
          <p14:sldIdLst>
            <p14:sldId id="350"/>
            <p14:sldId id="349"/>
            <p14:sldId id="352"/>
            <p14:sldId id="355"/>
            <p14:sldId id="351"/>
            <p14:sldId id="381"/>
            <p14:sldId id="382"/>
            <p14:sldId id="383"/>
            <p14:sldId id="353"/>
          </p14:sldIdLst>
        </p14:section>
        <p14:section name="Lösung" id="{EBA06156-51E7-4EE5-A4E5-4241A113A459}">
          <p14:sldIdLst>
            <p14:sldId id="363"/>
            <p14:sldId id="393"/>
          </p14:sldIdLst>
        </p14:section>
        <p14:section name="Bonus" id="{43D7CE9E-B60C-43A8-9C21-43A8E7F00B04}">
          <p14:sldIdLst>
            <p14:sldId id="354"/>
            <p14:sldId id="377"/>
          </p14:sldIdLst>
        </p14:section>
        <p14:section name="Extra Material" id="{CE18629C-E028-4F3E-83AD-7827A03CA251}">
          <p14:sldIdLst>
            <p14:sldId id="389"/>
            <p14:sldId id="374"/>
            <p14:sldId id="387"/>
            <p14:sldId id="388"/>
            <p14:sldId id="390"/>
            <p14:sldId id="3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0000"/>
    <a:srgbClr val="C00000"/>
    <a:srgbClr val="000000"/>
    <a:srgbClr val="C7A1E3"/>
    <a:srgbClr val="3C1A56"/>
    <a:srgbClr val="632B8D"/>
    <a:srgbClr val="2CF4EF"/>
    <a:srgbClr val="00305D"/>
    <a:srgbClr val="512373"/>
    <a:srgbClr val="E7E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836" autoAdjust="0"/>
  </p:normalViewPr>
  <p:slideViewPr>
    <p:cSldViewPr snapToGrid="0">
      <p:cViewPr varScale="1">
        <p:scale>
          <a:sx n="73" d="100"/>
          <a:sy n="73" d="100"/>
        </p:scale>
        <p:origin x="14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E7919-EF57-43A7-9BDC-44DBFD538FF3}" type="datetimeFigureOut">
              <a:rPr lang="en-DE" smtClean="0"/>
              <a:t>06/22/2025</a:t>
            </a:fld>
            <a:endParaRPr lang="en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7C97B-ECF7-4C7B-810B-FFDCA52AB3EF}" type="slidenum">
              <a:rPr lang="en-DE" smtClean="0"/>
              <a:t>‹Nr.›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678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Hilfe in IntelliJ:</a:t>
            </a:r>
          </a:p>
          <a:p>
            <a:r>
              <a:rPr lang="de-DE"/>
              <a:t>Besonderer Modus: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mode</a:t>
            </a:r>
            <a:endParaRPr lang="de-DE"/>
          </a:p>
          <a:p>
            <a:r>
              <a:rPr lang="de-DE"/>
              <a:t>Aktiviere </a:t>
            </a:r>
            <a:r>
              <a:rPr lang="de-DE" err="1"/>
              <a:t>Presentation</a:t>
            </a:r>
            <a:r>
              <a:rPr lang="de-DE"/>
              <a:t> </a:t>
            </a:r>
            <a:r>
              <a:rPr lang="de-DE" err="1"/>
              <a:t>Assistant</a:t>
            </a:r>
            <a:r>
              <a:rPr lang="de-DE"/>
              <a:t> Plug-in – </a:t>
            </a:r>
            <a:r>
              <a:rPr lang="de-DE" err="1"/>
              <a:t>Umscht</a:t>
            </a:r>
            <a:r>
              <a:rPr lang="de-DE"/>
              <a:t>. + Alt. + D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327789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Der richtige und leider stressige Weg zum </a:t>
            </a:r>
            <a:r>
              <a:rPr lang="de-DE" dirty="0" err="1"/>
              <a:t>erfolg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48200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Syntax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 err="1"/>
              <a:t>if</a:t>
            </a:r>
            <a:r>
              <a:rPr lang="de-DE" dirty="0"/>
              <a:t>  a &lt; 2) { --- Klammer Vergessen leicht  zu finden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schwerer wenn sie an der falschen Stelle sind (Block hat eine Methode zu wenig umschlossen)</a:t>
            </a:r>
          </a:p>
          <a:p>
            <a:r>
              <a:rPr lang="de-DE" dirty="0"/>
              <a:t>Semantisch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/>
              <a:t>5+7*3 = 26 soll aber 36 sein, </a:t>
            </a:r>
            <a:r>
              <a:rPr lang="de-DE" dirty="0" err="1"/>
              <a:t>Assozitivität</a:t>
            </a:r>
            <a:r>
              <a:rPr lang="de-DE" dirty="0"/>
              <a:t> der </a:t>
            </a:r>
            <a:r>
              <a:rPr lang="de-DE" dirty="0" err="1"/>
              <a:t>Opperatoren</a:t>
            </a:r>
            <a:r>
              <a:rPr lang="de-DE" dirty="0"/>
              <a:t> nicht beachtet 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 err="1"/>
              <a:t>int</a:t>
            </a:r>
            <a:r>
              <a:rPr lang="de-DE" dirty="0"/>
              <a:t> a = 5_000_000_000; Overflow der Werte</a:t>
            </a:r>
          </a:p>
          <a:p>
            <a:r>
              <a:rPr lang="de-DE" dirty="0"/>
              <a:t>Logisch </a:t>
            </a:r>
            <a:r>
              <a:rPr lang="de-DE" dirty="0">
                <a:sym typeface="Wingdings" panose="05000000000000000000" pitchFamily="2" charset="2"/>
              </a:rPr>
              <a:t>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anose="05000000000000000000" pitchFamily="2" charset="2"/>
              </a:rPr>
              <a:t>string</a:t>
            </a:r>
            <a:r>
              <a:rPr lang="de-DE" dirty="0">
                <a:sym typeface="Wingdings" panose="05000000000000000000" pitchFamily="2" charset="2"/>
              </a:rPr>
              <a:t> s; </a:t>
            </a:r>
            <a:r>
              <a:rPr lang="de-DE" dirty="0" err="1">
                <a:sym typeface="Wingdings" panose="05000000000000000000" pitchFamily="2" charset="2"/>
              </a:rPr>
              <a:t>s.equals</a:t>
            </a:r>
            <a:r>
              <a:rPr lang="de-DE" dirty="0">
                <a:sym typeface="Wingdings" panose="05000000000000000000" pitchFamily="2" charset="2"/>
              </a:rPr>
              <a:t>(„Hallo“) --- S ist null; vergessen zu initialisieren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de-DE" dirty="0" err="1">
                <a:sym typeface="Wingdings" panose="05000000000000000000" pitchFamily="2" charset="2"/>
              </a:rPr>
              <a:t>stack.peek</a:t>
            </a:r>
            <a:r>
              <a:rPr lang="de-DE" dirty="0">
                <a:sym typeface="Wingdings" panose="05000000000000000000" pitchFamily="2" charset="2"/>
              </a:rPr>
              <a:t>(); </a:t>
            </a:r>
            <a:r>
              <a:rPr lang="de-DE" dirty="0" err="1">
                <a:sym typeface="Wingdings" panose="05000000000000000000" pitchFamily="2" charset="2"/>
              </a:rPr>
              <a:t>if</a:t>
            </a:r>
            <a:r>
              <a:rPr lang="de-DE" dirty="0">
                <a:sym typeface="Wingdings" panose="05000000000000000000" pitchFamily="2" charset="2"/>
              </a:rPr>
              <a:t>(</a:t>
            </a:r>
            <a:r>
              <a:rPr lang="de-DE" dirty="0" err="1">
                <a:sym typeface="Wingdings" panose="05000000000000000000" pitchFamily="2" charset="2"/>
              </a:rPr>
              <a:t>stack.isEmpty</a:t>
            </a:r>
            <a:r>
              <a:rPr lang="de-DE" dirty="0">
                <a:sym typeface="Wingdings" panose="05000000000000000000" pitchFamily="2" charset="2"/>
              </a:rPr>
              <a:t>()) --- gibt nur oberstes Element zurück aber entfernt es nicht vom Stack</a:t>
            </a:r>
            <a:endParaRPr lang="de-DE" dirty="0"/>
          </a:p>
          <a:p>
            <a:endParaRPr lang="de-DE" dirty="0"/>
          </a:p>
          <a:p>
            <a:r>
              <a:rPr lang="de-DE" dirty="0"/>
              <a:t>Zeigen sich:</a:t>
            </a:r>
          </a:p>
          <a:p>
            <a:r>
              <a:rPr lang="de-DE" dirty="0"/>
              <a:t>Ergebnis – Beispiel danach</a:t>
            </a:r>
          </a:p>
          <a:p>
            <a:r>
              <a:rPr lang="de-DE" dirty="0"/>
              <a:t>Absturz – als zweites</a:t>
            </a:r>
          </a:p>
          <a:p>
            <a:endParaRPr lang="de-DE" dirty="0"/>
          </a:p>
          <a:p>
            <a:r>
              <a:rPr lang="de-DE" dirty="0"/>
              <a:t>Fachbegriffe nach ISTQB und GTB</a:t>
            </a:r>
          </a:p>
          <a:p>
            <a:r>
              <a:rPr lang="de-DE" dirty="0"/>
              <a:t>Fehlerhandlung, </a:t>
            </a:r>
            <a:r>
              <a:rPr lang="de-DE" dirty="0" err="1"/>
              <a:t>error</a:t>
            </a:r>
            <a:r>
              <a:rPr lang="de-DE" dirty="0"/>
              <a:t> = Ursache, Ausführen von Code, Zustand des Systems</a:t>
            </a:r>
          </a:p>
          <a:p>
            <a:r>
              <a:rPr lang="de-DE" dirty="0"/>
              <a:t>Fehlerzustand, </a:t>
            </a:r>
            <a:r>
              <a:rPr lang="de-DE" dirty="0" err="1"/>
              <a:t>defect</a:t>
            </a:r>
            <a:r>
              <a:rPr lang="de-DE" dirty="0"/>
              <a:t>, fault = Bug</a:t>
            </a:r>
          </a:p>
          <a:p>
            <a:r>
              <a:rPr lang="de-DE" dirty="0"/>
              <a:t>Fehlerwirkung, fail = Testergebnis, Falsche Werte / zeig </a:t>
            </a:r>
            <a:r>
              <a:rPr lang="de-DE" dirty="0">
                <a:sym typeface="Wingdings" panose="05000000000000000000" pitchFamily="2" charset="2"/>
              </a:rPr>
              <a:t> Der Fehlerzustand ist die Ursache der Fehlerwirkung</a:t>
            </a:r>
            <a:endParaRPr lang="de-DE" dirty="0"/>
          </a:p>
          <a:p>
            <a:endParaRPr lang="de-DE" dirty="0"/>
          </a:p>
          <a:p>
            <a:r>
              <a:rPr lang="de-DE" dirty="0"/>
              <a:t>Die Fehler werden auch inzwischen nicht nur auf Code bezogen. Auch in Dokumentation und Anforderungsspezifikationen gibt es Fehler.</a:t>
            </a:r>
          </a:p>
          <a:p>
            <a:r>
              <a:rPr lang="de-DE" dirty="0"/>
              <a:t>Hier ist die Ursache ein Irrtum der durch verschiedene Faktoren (Stress, fehlende Informationen, Komplexität etc.) verursacht wird. </a:t>
            </a:r>
          </a:p>
          <a:p>
            <a:endParaRPr lang="de-DE" dirty="0"/>
          </a:p>
          <a:p>
            <a:endParaRPr lang="de-DE" dirty="0"/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05324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Finde Fehler = Statische Tests, da kein Code ausgeführt wird </a:t>
            </a:r>
          </a:p>
          <a:p>
            <a:r>
              <a:rPr lang="de-DE"/>
              <a:t>Logischer Fehler werte </a:t>
            </a:r>
            <a:r>
              <a:rPr lang="de-DE" err="1"/>
              <a:t>excludiert</a:t>
            </a:r>
            <a:endParaRPr lang="de-DE"/>
          </a:p>
          <a:p>
            <a:r>
              <a:rPr lang="de-DE"/>
              <a:t>Tests sind auch vorhanden!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710405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Unterbrechbar =  Kann den Programmlauf anhalten und fortsetzen</a:t>
            </a:r>
          </a:p>
          <a:p>
            <a:r>
              <a:rPr lang="de-DE"/>
              <a:t>Information =  Wo, Was, Wie, …</a:t>
            </a:r>
          </a:p>
          <a:p>
            <a:r>
              <a:rPr lang="de-DE"/>
              <a:t>Bedingung/Filterung = Zu viel Information für das, was ich brauche</a:t>
            </a:r>
          </a:p>
          <a:p>
            <a:r>
              <a:rPr lang="de-DE"/>
              <a:t>Veränderung =  Setzen von Variablen, um Ablauf zu ändern oder direkt Ablauf ändern</a:t>
            </a:r>
          </a:p>
          <a:p>
            <a:endParaRPr lang="de-DE"/>
          </a:p>
          <a:p>
            <a:r>
              <a:rPr lang="de-DE"/>
              <a:t>Bevor Wechsel sagen: NICHT GUT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104013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Bedingung/Filterung weg durch </a:t>
            </a:r>
            <a:r>
              <a:rPr lang="de-DE" dirty="0" err="1"/>
              <a:t>Loglevel</a:t>
            </a:r>
            <a:endParaRPr lang="de-DE" dirty="0"/>
          </a:p>
          <a:p>
            <a:r>
              <a:rPr lang="de-DE" dirty="0"/>
              <a:t>Informationen werden durch </a:t>
            </a:r>
            <a:r>
              <a:rPr lang="de-DE" dirty="0" err="1"/>
              <a:t>Loggingframework</a:t>
            </a:r>
            <a:r>
              <a:rPr lang="de-DE" dirty="0"/>
              <a:t> mitgegeben</a:t>
            </a:r>
          </a:p>
          <a:p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="1" dirty="0"/>
              <a:t>Vor Wechsel: Logging ist nicht die Lösung aber eine Unterstützung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66029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Vorheriges Beispiel war Bug durch Falsches Ergebnis. Jetzt Bug durch Absturz</a:t>
            </a:r>
          </a:p>
          <a:p>
            <a:endParaRPr lang="de-DE"/>
          </a:p>
          <a:p>
            <a:r>
              <a:rPr lang="de-DE"/>
              <a:t>Trace in „“ weil es sind nicht die Methoden | call stack oder execution stack genannt</a:t>
            </a:r>
          </a:p>
          <a:p>
            <a:r>
              <a:rPr lang="de-DE"/>
              <a:t>Es sind die Frames bzw. der Execution stack der aus weiteren Stacktraces besteht</a:t>
            </a:r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46992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Starte Umfrage:</a:t>
            </a:r>
          </a:p>
          <a:p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Wo wurde die Exception geworfen?</a:t>
            </a:r>
          </a:p>
          <a:p>
            <a:endParaRPr lang="de-DE"/>
          </a:p>
          <a:p>
            <a:endParaRPr lang="de-DE"/>
          </a:p>
          <a:p>
            <a:r>
              <a:rPr lang="de-DE"/>
              <a:t>Zeile 31</a:t>
            </a:r>
          </a:p>
          <a:p>
            <a:r>
              <a:rPr lang="de-DE"/>
              <a:t>Zeile 78</a:t>
            </a:r>
          </a:p>
          <a:p>
            <a:r>
              <a:rPr lang="de-DE"/>
              <a:t>Keine Idee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51931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Zeige das Informationen wichtig sind.</a:t>
            </a:r>
          </a:p>
          <a:p>
            <a:endParaRPr lang="de-DE" dirty="0"/>
          </a:p>
          <a:p>
            <a:r>
              <a:rPr lang="de-DE" dirty="0"/>
              <a:t>Es gab einen Fehler zur Laufzeit… ach echt? Ich dachte wenn das Programm kompiliert! </a:t>
            </a:r>
          </a:p>
          <a:p>
            <a:endParaRPr lang="de-DE" dirty="0"/>
          </a:p>
          <a:p>
            <a:r>
              <a:rPr lang="de-DE" dirty="0"/>
              <a:t>Es gibt auch Fehler zur </a:t>
            </a:r>
            <a:r>
              <a:rPr lang="de-DE" dirty="0" err="1"/>
              <a:t>Compilezeit</a:t>
            </a:r>
            <a:r>
              <a:rPr lang="de-DE" dirty="0"/>
              <a:t>, aber dies treten eben nicht zur Laufzeit auf.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3063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Hier zeigen, dass Exception auch durch die genutzten Objekte geworfen werden.</a:t>
            </a:r>
          </a:p>
          <a:p>
            <a:r>
              <a:rPr lang="de-DE" dirty="0"/>
              <a:t>Je nach IDE werden auch die Stellen hervorgerufen. Unsere eigenen Code Zeilen sind blau, die von Bibliotheken sind Grau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Es ist im Normalfall ausreichend seine „letzte“ eigene Zeile aufzurufen; Dort einen Breakpoint setzen und entsprechend die Werte auslesen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03769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Umfrage:</a:t>
            </a:r>
          </a:p>
          <a:p>
            <a:r>
              <a:rPr lang="de-DE" dirty="0"/>
              <a:t>48</a:t>
            </a:r>
          </a:p>
          <a:p>
            <a:r>
              <a:rPr lang="de-DE" dirty="0"/>
              <a:t>51</a:t>
            </a:r>
          </a:p>
          <a:p>
            <a:r>
              <a:rPr lang="de-DE" dirty="0"/>
              <a:t>87</a:t>
            </a:r>
          </a:p>
          <a:p>
            <a:r>
              <a:rPr lang="de-DE" dirty="0"/>
              <a:t>143</a:t>
            </a:r>
          </a:p>
          <a:p>
            <a:r>
              <a:rPr lang="de-DE" dirty="0"/>
              <a:t>51 und 143</a:t>
            </a:r>
          </a:p>
          <a:p>
            <a:r>
              <a:rPr lang="de-DE" dirty="0"/>
              <a:t>48 und 87</a:t>
            </a:r>
          </a:p>
          <a:p>
            <a:r>
              <a:rPr lang="de-DE" dirty="0"/>
              <a:t>Keine Idee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Nun hier wurde mit Try und catch eine Exception abgefangen (</a:t>
            </a:r>
            <a:r>
              <a:rPr lang="de-DE" dirty="0" err="1"/>
              <a:t>NoSuchElementException</a:t>
            </a:r>
            <a:r>
              <a:rPr lang="de-DE" dirty="0"/>
              <a:t>);</a:t>
            </a:r>
          </a:p>
          <a:p>
            <a:r>
              <a:rPr lang="de-DE" dirty="0"/>
              <a:t>Die catch Klausel wirft allerdings erneut eine Exception (</a:t>
            </a:r>
            <a:r>
              <a:rPr lang="de-DE" dirty="0" err="1"/>
              <a:t>IllegalArgumentException</a:t>
            </a:r>
            <a:r>
              <a:rPr lang="de-DE" dirty="0"/>
              <a:t>) und gibt als Grund die abgefangenen Exception mit (Zeile 51 in </a:t>
            </a:r>
            <a:r>
              <a:rPr lang="de-DE" dirty="0" err="1"/>
              <a:t>ExceptionBeispiel</a:t>
            </a:r>
            <a:r>
              <a:rPr lang="de-DE" dirty="0"/>
              <a:t>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91819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Wenn wir merken etwas ist falsch, aber es gab keine Exception, dann müssen wir debuggen.</a:t>
            </a:r>
          </a:p>
          <a:p>
            <a:r>
              <a:rPr lang="de-DE" dirty="0"/>
              <a:t>Also Schritt für Schritt durchgehen und die Werte untersuchen.</a:t>
            </a:r>
          </a:p>
          <a:p>
            <a:endParaRPr lang="de-DE" dirty="0"/>
          </a:p>
          <a:p>
            <a:r>
              <a:rPr lang="de-DE" dirty="0"/>
              <a:t>Im Normalfall wird ein Programm im Speicher und CPU des Computers ausgeführt. </a:t>
            </a:r>
          </a:p>
          <a:p>
            <a:r>
              <a:rPr lang="de-DE" dirty="0"/>
              <a:t>Von der Detention her haben Prozesse keine Möglichkeit in den Speicher anderer Programme hineinzuschauen</a:t>
            </a:r>
          </a:p>
          <a:p>
            <a:r>
              <a:rPr lang="de-DE" dirty="0"/>
              <a:t>Daher brauch es eine Umgebung, die zwischen dem Programm und dem Computer „vermittelt“ und für das Programm einen Computer simuliert (Debugger)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00792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de-DE" sz="1400"/>
              <a:t>Ablauf nächste Folien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Breakpoints /Liste aller Breakpoints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Liste an Variablen im Frame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Fenster mit markierter Zeile, an der das Programm aktuell 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Ablaufkontrolle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Frame Stack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/>
              <a:t>Weitere Fenster je nach IDE/Anwendung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800" b="1" u="sng"/>
              <a:t>Starte SummeVonBis im </a:t>
            </a:r>
            <a:r>
              <a:rPr lang="de-DE" sz="2800" b="1" u="sng" err="1"/>
              <a:t>Debugmodus</a:t>
            </a:r>
            <a:r>
              <a:rPr lang="de-DE" sz="2800" b="1" u="sng"/>
              <a:t> ohne Breakpoints -&gt; Läuft durch</a:t>
            </a:r>
            <a:endParaRPr lang="en-DE" sz="2800" b="1" u="sng"/>
          </a:p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24853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Rote Markierung beachten</a:t>
            </a:r>
          </a:p>
          <a:p>
            <a:r>
              <a:rPr lang="de-DE" dirty="0"/>
              <a:t>Methoden-Breakpoints sind langsam! Sie Halten Vor der </a:t>
            </a:r>
            <a:r>
              <a:rPr lang="de-DE" dirty="0" err="1"/>
              <a:t>Ausführunge</a:t>
            </a:r>
            <a:r>
              <a:rPr lang="de-DE" dirty="0"/>
              <a:t> bzw. Aufruf der Methode an. Da er nicht wissen kann wann es aufgerufen wird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Lambda-Breakpoints schwer erkennbar</a:t>
            </a:r>
          </a:p>
          <a:p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37009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Beispiel:</a:t>
            </a:r>
          </a:p>
          <a:p>
            <a:endParaRPr lang="de-DE" dirty="0"/>
          </a:p>
          <a:p>
            <a:r>
              <a:rPr lang="de-DE" dirty="0"/>
              <a:t>Erst </a:t>
            </a:r>
            <a:r>
              <a:rPr lang="de-DE" dirty="0" err="1"/>
              <a:t>passcount</a:t>
            </a:r>
            <a:r>
              <a:rPr lang="de-DE" dirty="0"/>
              <a:t> gezeigt</a:t>
            </a:r>
          </a:p>
          <a:p>
            <a:r>
              <a:rPr lang="de-DE" dirty="0"/>
              <a:t>Dann i == 96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Es gibt noch die Möglichkeit Breakpoints an Attributen zu setzen. Diese sind dann bedingt auf Zugriff (lesend oder schreiben). Gut wenn man überwachen will, wann plötzlich ein Wert falsch wird. </a:t>
            </a:r>
            <a:r>
              <a:rPr lang="de-DE" dirty="0">
                <a:sym typeface="Wingdings" panose="05000000000000000000" pitchFamily="2" charset="2"/>
              </a:rPr>
              <a:t> Benötigt etwas Geschick im Umgang mit </a:t>
            </a:r>
            <a:r>
              <a:rPr lang="de-DE" dirty="0" err="1">
                <a:sym typeface="Wingdings" panose="05000000000000000000" pitchFamily="2" charset="2"/>
              </a:rPr>
              <a:t>Conditions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19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24280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33726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Mach ein Beispiel im Code summeVonBis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50406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Watcher-Variablen sind Variablen, Felder oder </a:t>
            </a:r>
            <a:r>
              <a:rPr lang="de-DE" dirty="0" err="1"/>
              <a:t>Expressions</a:t>
            </a:r>
            <a:r>
              <a:rPr lang="de-DE" dirty="0"/>
              <a:t> die in einem Separaten Fenster immer aufgelistet werden </a:t>
            </a:r>
            <a:r>
              <a:rPr lang="de-DE" dirty="0">
                <a:sym typeface="Wingdings" panose="05000000000000000000" pitchFamily="2" charset="2"/>
              </a:rPr>
              <a:t> Gut um eine Variable oder Attribut währen der Laufzeit auf Änderungen zu Überwachen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0093732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Zeige Level 1 und oder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Es ist manchmal </a:t>
            </a:r>
            <a:r>
              <a:rPr lang="de-DE" dirty="0" err="1"/>
              <a:t>sinvoll</a:t>
            </a:r>
            <a:r>
              <a:rPr lang="de-DE" dirty="0"/>
              <a:t> während des Debuggens Werte zu ändern, um zu „testen“, was bei anderen Werten passiert. (Funktioniert plötzlich oder stürzt deswegen ab)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611123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Zeige Beispiel im Projekt </a:t>
            </a:r>
          </a:p>
          <a:p>
            <a:r>
              <a:rPr lang="de-DE" dirty="0"/>
              <a:t>Dann erst klicken </a:t>
            </a:r>
          </a:p>
          <a:p>
            <a:endParaRPr lang="de-DE" dirty="0"/>
          </a:p>
          <a:p>
            <a:r>
              <a:rPr lang="de-DE" dirty="0"/>
              <a:t>Force Return (sofort Zurück mit Rückgabewert) </a:t>
            </a:r>
            <a:r>
              <a:rPr lang="de-DE" dirty="0">
                <a:sym typeface="Wingdings" panose="05000000000000000000" pitchFamily="2" charset="2"/>
              </a:rPr>
              <a:t> Im Extra-Material</a:t>
            </a:r>
            <a:endParaRPr lang="de-DE" dirty="0"/>
          </a:p>
          <a:p>
            <a:endParaRPr lang="de-DE" dirty="0"/>
          </a:p>
          <a:p>
            <a:r>
              <a:rPr lang="de-DE" dirty="0"/>
              <a:t>Der </a:t>
            </a:r>
            <a:r>
              <a:rPr lang="de-DE" dirty="0" err="1"/>
              <a:t>call</a:t>
            </a:r>
            <a:r>
              <a:rPr lang="de-DE" dirty="0"/>
              <a:t> stack ist das gesamte Fenster („ganz unten“ steht die main-Methode)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74617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Das Bild zeigt den Speicher zu Beginn des Programmes, also in der ersten Zeile der main-Methode</a:t>
            </a:r>
          </a:p>
          <a:p>
            <a:endParaRPr lang="de-DE" dirty="0"/>
          </a:p>
          <a:p>
            <a:r>
              <a:rPr lang="de-DE" dirty="0"/>
              <a:t>Eher </a:t>
            </a:r>
            <a:r>
              <a:rPr lang="de-DE" dirty="0" err="1"/>
              <a:t>sinvoll</a:t>
            </a:r>
            <a:r>
              <a:rPr lang="de-DE" dirty="0"/>
              <a:t> für Optimierungen bzw. Messungen </a:t>
            </a:r>
            <a:r>
              <a:rPr lang="de-DE" dirty="0">
                <a:sym typeface="Wingdings" panose="05000000000000000000" pitchFamily="2" charset="2"/>
              </a:rPr>
              <a:t></a:t>
            </a:r>
            <a:r>
              <a:rPr lang="de-DE" dirty="0"/>
              <a:t> Speicherverbrauch, Wird ein Objekt erstellt, Ist es doppelt oder 3-fach vorhanden …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64438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Andere Bezeichnungen (</a:t>
            </a:r>
            <a:r>
              <a:rPr lang="de-DE" dirty="0" err="1"/>
              <a:t>Exp-Ev</a:t>
            </a:r>
            <a:r>
              <a:rPr lang="de-DE" dirty="0"/>
              <a:t>):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 err="1"/>
              <a:t>Debug</a:t>
            </a:r>
            <a:r>
              <a:rPr lang="de-DE" dirty="0"/>
              <a:t> Terminal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de-DE" dirty="0"/>
              <a:t>Watch-Fenster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WICHTIG! Es sind Befehle in der Laufzeitumgebung </a:t>
            </a:r>
            <a:r>
              <a:rPr lang="de-DE" dirty="0">
                <a:sym typeface="Wingdings" panose="05000000000000000000" pitchFamily="2" charset="2"/>
              </a:rPr>
              <a:t> Änderungen an Objekten bleiben bestehen und müssen händisch rückgängig gemacht werden </a:t>
            </a: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Chain Stream: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Übersicht der Stream-Auswertung. Zeigt Reihenfolge der Schritte. Andere Reihenfolge kann sinnvoll sein.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Kann fehlerhaft sein (Stand 2022: Siehe Bild Übergang </a:t>
            </a:r>
            <a:r>
              <a:rPr lang="de-DE" dirty="0" err="1"/>
              <a:t>sorted</a:t>
            </a:r>
            <a:r>
              <a:rPr lang="de-DE" dirty="0"/>
              <a:t>… wieso weniger Elemente beim sortieren plötzlich?)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27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35394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C gibt es Zugriff auf die Register in der CPU</a:t>
            </a:r>
          </a:p>
          <a:p>
            <a:r>
              <a:rPr lang="de-DE" dirty="0">
                <a:sym typeface="Wingdings" panose="05000000000000000000" pitchFamily="2" charset="2"/>
              </a:rPr>
              <a:t> Auslesen und verändern </a:t>
            </a:r>
            <a:r>
              <a:rPr lang="de-DE" dirty="0" err="1">
                <a:sym typeface="Wingdings" panose="05000000000000000000" pitchFamily="2" charset="2"/>
              </a:rPr>
              <a:t>sinvoll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28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05039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 GPUS (Nvidia CUDA) gibt es viele Konzepte, zum Beschreiben der Teile der Grafikkarte</a:t>
            </a:r>
          </a:p>
          <a:p>
            <a:r>
              <a:rPr lang="de-DE" dirty="0"/>
              <a:t>Entsprechende Fenster für Analyse der Bereiche</a:t>
            </a:r>
          </a:p>
          <a:p>
            <a:endParaRPr lang="de-DE" dirty="0"/>
          </a:p>
          <a:p>
            <a:r>
              <a:rPr lang="de-DE" dirty="0"/>
              <a:t>Warp = 32 Thread/Cores die zusammenarbeiten</a:t>
            </a:r>
          </a:p>
          <a:p>
            <a:r>
              <a:rPr lang="de-DE" dirty="0"/>
              <a:t>* Jeder Warp kann maximal 256 Register nutzen</a:t>
            </a:r>
          </a:p>
          <a:p>
            <a:r>
              <a:rPr lang="de-DE" dirty="0"/>
              <a:t>SM (</a:t>
            </a:r>
            <a:r>
              <a:rPr lang="de-DE" dirty="0" err="1"/>
              <a:t>Streming</a:t>
            </a:r>
            <a:r>
              <a:rPr lang="de-DE" dirty="0"/>
              <a:t> </a:t>
            </a:r>
            <a:r>
              <a:rPr lang="de-DE" dirty="0" err="1"/>
              <a:t>Multiprocessor</a:t>
            </a:r>
            <a:r>
              <a:rPr lang="de-DE" dirty="0"/>
              <a:t>) = Gruppierung von einem Bereich von CUDA-Cores 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29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440796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Ebene = Stufe</a:t>
            </a:r>
          </a:p>
          <a:p>
            <a:r>
              <a:rPr lang="de-DE" dirty="0"/>
              <a:t>Wissen = Methode/Verfahren</a:t>
            </a:r>
          </a:p>
          <a:p>
            <a:endParaRPr lang="de-DE" dirty="0"/>
          </a:p>
          <a:p>
            <a:r>
              <a:rPr lang="de-DE" dirty="0"/>
              <a:t>Übersicht der Tests. Definition und Kategorisierung</a:t>
            </a:r>
            <a:endParaRPr lang="en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30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7776933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Idee, Test von Source trennen, um das Produktiv System „klein“ zu halten. Durch gleiche Package Struktur aber für den Entwickler zusammen an einem Ort</a:t>
            </a:r>
          </a:p>
          <a:p>
            <a:endParaRPr lang="de-DE" dirty="0"/>
          </a:p>
          <a:p>
            <a:r>
              <a:rPr lang="de-DE" dirty="0"/>
              <a:t>Dank Maven wird das automatisch im </a:t>
            </a:r>
            <a:r>
              <a:rPr lang="de-DE" dirty="0" err="1"/>
              <a:t>Classpath</a:t>
            </a:r>
            <a:r>
              <a:rPr lang="de-DE" dirty="0"/>
              <a:t> gesetzt und im Export wird der Testordner ignoriert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31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8262300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MERKE: Andere Objekte schicken Nachrichten an ein Objekt, dieses muss darauf reagieren. Wie man das löst, bleibt dem Objekt selbst überlassen. </a:t>
            </a:r>
          </a:p>
          <a:p>
            <a:endParaRPr lang="de-DE" dirty="0"/>
          </a:p>
          <a:p>
            <a:r>
              <a:rPr lang="de-DE" dirty="0"/>
              <a:t>Beispiel aus der Realität:</a:t>
            </a:r>
          </a:p>
          <a:p>
            <a:r>
              <a:rPr lang="de-DE" dirty="0"/>
              <a:t>„Berechne mir die Wurzel aus 9!“</a:t>
            </a:r>
          </a:p>
          <a:p>
            <a:r>
              <a:rPr lang="de-DE" dirty="0"/>
              <a:t>Student 1: „Weiß ich es ist 3“ (hat es hart in der Methode gecodet)</a:t>
            </a:r>
          </a:p>
          <a:p>
            <a:endParaRPr lang="de-DE" dirty="0"/>
          </a:p>
          <a:p>
            <a:r>
              <a:rPr lang="de-DE" dirty="0"/>
              <a:t>Student 2: „Moment ich muss das </a:t>
            </a:r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Heron-Verfahren anwenden“ (20 Sekunden später) „Es ist 3“</a:t>
            </a:r>
          </a:p>
          <a:p>
            <a:endParaRPr lang="de-DE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de-DE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Beide Studenten lösen die Aufgabe nur hat der eine eben noch für sich eine private Methode (Heron-Verfahren) angewendet, um das Hauptziel zu erreichen. Der Aufgabensteller ist in beiden Fällen zufrieden und mehr hat ihn auch nicht interessiert.  </a:t>
            </a:r>
            <a:r>
              <a:rPr lang="de-DE" dirty="0"/>
              <a:t>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32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899863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Inzwischen gibt es viele </a:t>
            </a:r>
            <a:r>
              <a:rPr lang="de-DE" dirty="0" err="1"/>
              <a:t>Assert</a:t>
            </a:r>
            <a:r>
              <a:rPr lang="de-DE" dirty="0"/>
              <a:t>-Methoden die sehr gut die beschreibende Aktivität enthalten. Auch andere Frameworks enthalten solche Methoden, die ihre Aktion über den Namen beschreiben und JUnit erweitern</a:t>
            </a:r>
          </a:p>
          <a:p>
            <a:endParaRPr lang="de-DE" dirty="0"/>
          </a:p>
          <a:p>
            <a:r>
              <a:rPr lang="de-DE" dirty="0"/>
              <a:t>Die </a:t>
            </a:r>
            <a:r>
              <a:rPr lang="de-DE" dirty="0" err="1"/>
              <a:t>Assume</a:t>
            </a:r>
            <a:r>
              <a:rPr lang="de-DE" dirty="0"/>
              <a:t>-Methoden sind ähnlich zu </a:t>
            </a:r>
            <a:r>
              <a:rPr lang="de-DE" dirty="0" err="1"/>
              <a:t>Assert</a:t>
            </a:r>
            <a:r>
              <a:rPr lang="de-DE" dirty="0"/>
              <a:t>. Aber wenn diese fehlschlagen wird der Test als „ignoriert“ markiert.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33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79160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err="1"/>
              <a:t>Success</a:t>
            </a:r>
            <a:endParaRPr lang="de-DE" dirty="0"/>
          </a:p>
          <a:p>
            <a:r>
              <a:rPr lang="de-DE" dirty="0"/>
              <a:t>Fail</a:t>
            </a:r>
          </a:p>
          <a:p>
            <a:r>
              <a:rPr lang="de-DE" dirty="0" err="1"/>
              <a:t>Aborted</a:t>
            </a:r>
            <a:r>
              <a:rPr lang="de-DE" dirty="0"/>
              <a:t> = Error</a:t>
            </a:r>
          </a:p>
          <a:p>
            <a:r>
              <a:rPr lang="de-DE" dirty="0" err="1"/>
              <a:t>Skippet</a:t>
            </a:r>
            <a:endParaRPr lang="de-DE" dirty="0"/>
          </a:p>
          <a:p>
            <a:endParaRPr lang="de-DE" dirty="0"/>
          </a:p>
          <a:p>
            <a:r>
              <a:rPr lang="de-DE" dirty="0"/>
              <a:t>Vorsicht die IDEs zeigen nicht alle Ausgänge mit unterschiedlichen Symbolen </a:t>
            </a:r>
          </a:p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35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93336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Filterung ist möglich. Nur fehlgeschlagene bzw. nur Abgebrochene </a:t>
            </a:r>
          </a:p>
          <a:p>
            <a:r>
              <a:rPr lang="de-DE" dirty="0"/>
              <a:t>Erfolgreiche Tests und Ignorierte werden nicht angezeigt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36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686161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Feature – Java Version (Einführung-Preview/Vollständig )</a:t>
            </a:r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40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971694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Dies ist der Debugger der eigentlich läuft.</a:t>
            </a:r>
          </a:p>
          <a:p>
            <a:r>
              <a:rPr lang="de-DE" dirty="0"/>
              <a:t>Die IDEs stellen es nur schön dar bzw. rufen die Befehle im Hintergrund auf. (Wenn nicht selber direkt eigener Debugger der IDE da ist)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7C97B-ECF7-4C7B-810B-FFDCA52AB3EF}" type="slidenum">
              <a:rPr lang="en-DE" smtClean="0"/>
              <a:t>55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2116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fik 13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27901"/>
            <a:ext cx="1468046" cy="548987"/>
          </a:xfrm>
          <a:prstGeom prst="rect">
            <a:avLst/>
          </a:prstGeom>
        </p:spPr>
      </p:pic>
      <p:pic>
        <p:nvPicPr>
          <p:cNvPr id="12" name="Grafik 11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8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9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20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21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22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23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92770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pic>
        <p:nvPicPr>
          <p:cNvPr id="4" name="Grafik 3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3" name="Grafik 2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2792030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blauverla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bg1">
                    <a:alpha val="7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18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bg1">
                    <a:alpha val="70000"/>
                  </a:schemeClr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9" name="Grafik 18" descr="Logo. Acht unregelmäßige Dreiecksflächen sind, im Uhrzeigersinn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7694" y="329323"/>
            <a:ext cx="146390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9731"/>
            <a:ext cx="1765029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0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folie_TUD_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692959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5981697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028966" cy="246221"/>
          </a:xfrm>
          <a:prstGeom prst="rect">
            <a:avLst/>
          </a:prstGeom>
          <a:noFill/>
          <a:ln>
            <a:noFill/>
          </a:ln>
        </p:spPr>
        <p:txBody>
          <a:bodyPr wrap="none" l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602029" cy="246221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5" name="Grafik 14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21077"/>
            <a:ext cx="1468046" cy="548987"/>
          </a:xfrm>
          <a:prstGeom prst="rect">
            <a:avLst/>
          </a:prstGeom>
        </p:spPr>
      </p:pic>
      <p:pic>
        <p:nvPicPr>
          <p:cNvPr id="17" name="Grafik 16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26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05594" y="327901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sp>
        <p:nvSpPr>
          <p:cNvPr id="5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86458" y="346075"/>
            <a:ext cx="1764000" cy="514800"/>
          </a:xfr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669292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elfolie_TUD_weiß+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Bildplatzhalter 9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SpPr>
            <a:spLocks noGrp="1"/>
          </p:cNvSpPr>
          <p:nvPr>
            <p:ph type="pic" sz="quarter" idx="16"/>
          </p:nvPr>
        </p:nvSpPr>
        <p:spPr>
          <a:xfrm>
            <a:off x="10442465" y="328249"/>
            <a:ext cx="1468800" cy="550800"/>
          </a:xfrm>
          <a:blipFill>
            <a:blip r:embed="rId2"/>
            <a:srcRect/>
            <a:stretch>
              <a:fillRect l="-493" r="-493"/>
            </a:stretch>
          </a:blipFill>
        </p:spPr>
        <p:txBody>
          <a:bodyPr/>
          <a:lstStyle>
            <a:lvl1pPr>
              <a:defRPr sz="100" b="0">
                <a:solidFill>
                  <a:schemeClr val="bg1"/>
                </a:solidFill>
              </a:defRPr>
            </a:lvl1pPr>
          </a:lstStyle>
          <a:p>
            <a:r>
              <a:rPr lang="de-DE" sz="300" b="0"/>
              <a:t>Bild durch Klicken auf Symbol hinzufügen</a:t>
            </a:r>
            <a:endParaRPr lang="de-DE"/>
          </a:p>
        </p:txBody>
      </p:sp>
      <p:sp>
        <p:nvSpPr>
          <p:cNvPr id="17" name="Bildplatzhalter 4" descr="Logo. Schriftzug &quot;Technische Universität Dresden&quot;. Links davon befindet sich ein Achteck, das in zwei Bereiche aufgeteilt ist, die zusammen die Buchstaben &quot;T&quot; und &quot;U&quot; ergeben." title="Logo der TU Dresden"/>
          <p:cNvSpPr>
            <a:spLocks noGrp="1"/>
          </p:cNvSpPr>
          <p:nvPr>
            <p:ph type="pic" sz="quarter" idx="15"/>
          </p:nvPr>
        </p:nvSpPr>
        <p:spPr>
          <a:xfrm>
            <a:off x="290304" y="349731"/>
            <a:ext cx="1764000" cy="514800"/>
          </a:xfrm>
          <a:blipFill dpi="0" rotWithShape="1">
            <a:blip r:embed="rId3"/>
            <a:srcRect/>
            <a:stretch>
              <a:fillRect l="-29" r="-29"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</p:spTree>
    <p:extLst>
      <p:ext uri="{BB962C8B-B14F-4D97-AF65-F5344CB8AC3E}">
        <p14:creationId xmlns:p14="http://schemas.microsoft.com/office/powerpoint/2010/main" val="2582954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elfolie_TUD_Foto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0" y="1204913"/>
            <a:ext cx="12192000" cy="5653086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7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1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5" name="Grafik 14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18" name="Grafik 17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1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8" name="Grafik 17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96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951B81"/>
              </a:gs>
              <a:gs pos="100000">
                <a:srgbClr val="59358C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8" name="Grafik 17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911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eck 12"/>
          <p:cNvSpPr/>
          <p:nvPr/>
        </p:nvSpPr>
        <p:spPr>
          <a:xfrm>
            <a:off x="0" y="1204912"/>
            <a:ext cx="12192000" cy="5653089"/>
          </a:xfrm>
          <a:prstGeom prst="rect">
            <a:avLst/>
          </a:prstGeom>
          <a:gradFill>
            <a:gsLst>
              <a:gs pos="14000">
                <a:srgbClr val="DE2526"/>
              </a:gs>
              <a:gs pos="100000">
                <a:srgbClr val="CD1719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8" name="Grafik 17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0" name="Grafik 19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00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Titelfolie_TUD_weiß-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hteck 13">
            <a:extLst>
              <a:ext uri="{FF2B5EF4-FFF2-40B4-BE49-F238E27FC236}">
                <a16:creationId xmlns:a16="http://schemas.microsoft.com/office/drawing/2014/main" id="{8D22BFAA-62C6-4AF7-A140-D9E9750A54AC}"/>
              </a:ext>
            </a:extLst>
          </p:cNvPr>
          <p:cNvSpPr/>
          <p:nvPr/>
        </p:nvSpPr>
        <p:spPr>
          <a:xfrm>
            <a:off x="3151994" y="2563831"/>
            <a:ext cx="9050720" cy="4317954"/>
          </a:xfrm>
          <a:custGeom>
            <a:avLst/>
            <a:gdLst>
              <a:gd name="connsiteX0" fmla="*/ 0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0 w 5904411"/>
              <a:gd name="connsiteY4" fmla="*/ 0 h 3967747"/>
              <a:gd name="connsiteX0" fmla="*/ 3590925 w 5904411"/>
              <a:gd name="connsiteY0" fmla="*/ 0 h 3967747"/>
              <a:gd name="connsiteX1" fmla="*/ 5904411 w 5904411"/>
              <a:gd name="connsiteY1" fmla="*/ 0 h 3967747"/>
              <a:gd name="connsiteX2" fmla="*/ 5904411 w 5904411"/>
              <a:gd name="connsiteY2" fmla="*/ 3967747 h 3967747"/>
              <a:gd name="connsiteX3" fmla="*/ 0 w 5904411"/>
              <a:gd name="connsiteY3" fmla="*/ 3967747 h 3967747"/>
              <a:gd name="connsiteX4" fmla="*/ 3590925 w 5904411"/>
              <a:gd name="connsiteY4" fmla="*/ 0 h 3967747"/>
              <a:gd name="connsiteX0" fmla="*/ 3857625 w 6171111"/>
              <a:gd name="connsiteY0" fmla="*/ 0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857625 w 6171111"/>
              <a:gd name="connsiteY4" fmla="*/ 0 h 3967747"/>
              <a:gd name="connsiteX0" fmla="*/ 3952875 w 6171111"/>
              <a:gd name="connsiteY0" fmla="*/ 9525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52875 w 6171111"/>
              <a:gd name="connsiteY4" fmla="*/ 9525 h 3967747"/>
              <a:gd name="connsiteX0" fmla="*/ 3925061 w 6171111"/>
              <a:gd name="connsiteY0" fmla="*/ 0 h 3972129"/>
              <a:gd name="connsiteX1" fmla="*/ 6171111 w 6171111"/>
              <a:gd name="connsiteY1" fmla="*/ 4382 h 3972129"/>
              <a:gd name="connsiteX2" fmla="*/ 6171111 w 6171111"/>
              <a:gd name="connsiteY2" fmla="*/ 3972129 h 3972129"/>
              <a:gd name="connsiteX3" fmla="*/ 0 w 6171111"/>
              <a:gd name="connsiteY3" fmla="*/ 3962604 h 3972129"/>
              <a:gd name="connsiteX4" fmla="*/ 3925061 w 6171111"/>
              <a:gd name="connsiteY4" fmla="*/ 0 h 3972129"/>
              <a:gd name="connsiteX0" fmla="*/ 3925061 w 6171111"/>
              <a:gd name="connsiteY0" fmla="*/ 381 h 3967747"/>
              <a:gd name="connsiteX1" fmla="*/ 6171111 w 6171111"/>
              <a:gd name="connsiteY1" fmla="*/ 0 h 3967747"/>
              <a:gd name="connsiteX2" fmla="*/ 6171111 w 6171111"/>
              <a:gd name="connsiteY2" fmla="*/ 3967747 h 3967747"/>
              <a:gd name="connsiteX3" fmla="*/ 0 w 6171111"/>
              <a:gd name="connsiteY3" fmla="*/ 3958222 h 3967747"/>
              <a:gd name="connsiteX4" fmla="*/ 3925061 w 6171111"/>
              <a:gd name="connsiteY4" fmla="*/ 381 h 3967747"/>
              <a:gd name="connsiteX0" fmla="*/ 3961821 w 6207871"/>
              <a:gd name="connsiteY0" fmla="*/ 381 h 3981196"/>
              <a:gd name="connsiteX1" fmla="*/ 6207871 w 6207871"/>
              <a:gd name="connsiteY1" fmla="*/ 0 h 3981196"/>
              <a:gd name="connsiteX2" fmla="*/ 6207871 w 6207871"/>
              <a:gd name="connsiteY2" fmla="*/ 3967747 h 3981196"/>
              <a:gd name="connsiteX3" fmla="*/ 0 w 6207871"/>
              <a:gd name="connsiteY3" fmla="*/ 3981196 h 3981196"/>
              <a:gd name="connsiteX4" fmla="*/ 3961821 w 6207871"/>
              <a:gd name="connsiteY4" fmla="*/ 381 h 3981196"/>
              <a:gd name="connsiteX0" fmla="*/ 3984796 w 6230846"/>
              <a:gd name="connsiteY0" fmla="*/ 381 h 3981196"/>
              <a:gd name="connsiteX1" fmla="*/ 6230846 w 6230846"/>
              <a:gd name="connsiteY1" fmla="*/ 0 h 3981196"/>
              <a:gd name="connsiteX2" fmla="*/ 6230846 w 6230846"/>
              <a:gd name="connsiteY2" fmla="*/ 3967747 h 3981196"/>
              <a:gd name="connsiteX3" fmla="*/ 0 w 6230846"/>
              <a:gd name="connsiteY3" fmla="*/ 3981196 h 3981196"/>
              <a:gd name="connsiteX4" fmla="*/ 3984796 w 6230846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6230846 w 8344852"/>
              <a:gd name="connsiteY2" fmla="*/ 3967747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  <a:gd name="connsiteX0" fmla="*/ 3984796 w 8344852"/>
              <a:gd name="connsiteY0" fmla="*/ 381 h 3981196"/>
              <a:gd name="connsiteX1" fmla="*/ 8344852 w 8344852"/>
              <a:gd name="connsiteY1" fmla="*/ 0 h 3981196"/>
              <a:gd name="connsiteX2" fmla="*/ 8344852 w 8344852"/>
              <a:gd name="connsiteY2" fmla="*/ 3967748 h 3981196"/>
              <a:gd name="connsiteX3" fmla="*/ 0 w 8344852"/>
              <a:gd name="connsiteY3" fmla="*/ 3981196 h 3981196"/>
              <a:gd name="connsiteX4" fmla="*/ 3984796 w 8344852"/>
              <a:gd name="connsiteY4" fmla="*/ 381 h 398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44852" h="3981196">
                <a:moveTo>
                  <a:pt x="3984796" y="381"/>
                </a:moveTo>
                <a:lnTo>
                  <a:pt x="8344852" y="0"/>
                </a:lnTo>
                <a:lnTo>
                  <a:pt x="8344852" y="3967748"/>
                </a:lnTo>
                <a:lnTo>
                  <a:pt x="0" y="3981196"/>
                </a:lnTo>
                <a:lnTo>
                  <a:pt x="3984796" y="381"/>
                </a:ln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/>
          </a:p>
        </p:txBody>
      </p:sp>
      <p:sp>
        <p:nvSpPr>
          <p:cNvPr id="19" name="Rechteck 9">
            <a:extLst>
              <a:ext uri="{FF2B5EF4-FFF2-40B4-BE49-F238E27FC236}">
                <a16:creationId xmlns:a16="http://schemas.microsoft.com/office/drawing/2014/main" id="{9FD71789-74E3-45C9-B1BA-98AEA75CF44C}"/>
              </a:ext>
            </a:extLst>
          </p:cNvPr>
          <p:cNvSpPr/>
          <p:nvPr/>
        </p:nvSpPr>
        <p:spPr>
          <a:xfrm>
            <a:off x="-1" y="3692352"/>
            <a:ext cx="9555747" cy="3185710"/>
          </a:xfrm>
          <a:custGeom>
            <a:avLst/>
            <a:gdLst>
              <a:gd name="connsiteX0" fmla="*/ 0 w 8810492"/>
              <a:gd name="connsiteY0" fmla="*/ 0 h 2937256"/>
              <a:gd name="connsiteX1" fmla="*/ 8810492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  <a:gd name="connsiteX0" fmla="*/ 0 w 8810492"/>
              <a:gd name="connsiteY0" fmla="*/ 0 h 2937256"/>
              <a:gd name="connsiteX1" fmla="*/ 5858286 w 8810492"/>
              <a:gd name="connsiteY1" fmla="*/ 0 h 2937256"/>
              <a:gd name="connsiteX2" fmla="*/ 8810492 w 8810492"/>
              <a:gd name="connsiteY2" fmla="*/ 2937256 h 2937256"/>
              <a:gd name="connsiteX3" fmla="*/ 0 w 8810492"/>
              <a:gd name="connsiteY3" fmla="*/ 2937256 h 2937256"/>
              <a:gd name="connsiteX4" fmla="*/ 0 w 8810492"/>
              <a:gd name="connsiteY4" fmla="*/ 0 h 2937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810492" h="2937256">
                <a:moveTo>
                  <a:pt x="0" y="0"/>
                </a:moveTo>
                <a:lnTo>
                  <a:pt x="5858286" y="0"/>
                </a:lnTo>
                <a:lnTo>
                  <a:pt x="8810492" y="2937256"/>
                </a:lnTo>
                <a:lnTo>
                  <a:pt x="0" y="293725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de-DE"/>
              <a:t> </a:t>
            </a:r>
          </a:p>
        </p:txBody>
      </p:sp>
      <p:sp>
        <p:nvSpPr>
          <p:cNvPr id="20" name="Rechteck 8">
            <a:extLst>
              <a:ext uri="{FF2B5EF4-FFF2-40B4-BE49-F238E27FC236}">
                <a16:creationId xmlns:a16="http://schemas.microsoft.com/office/drawing/2014/main" id="{E0A106CA-E2A4-4455-BD1E-8B7BA6CDC669}"/>
              </a:ext>
            </a:extLst>
          </p:cNvPr>
          <p:cNvSpPr/>
          <p:nvPr/>
        </p:nvSpPr>
        <p:spPr>
          <a:xfrm>
            <a:off x="-709" y="2302249"/>
            <a:ext cx="6020777" cy="4581946"/>
          </a:xfrm>
          <a:custGeom>
            <a:avLst/>
            <a:gdLst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5307874 h 5307874"/>
              <a:gd name="connsiteX3" fmla="*/ 0 w 3587931"/>
              <a:gd name="connsiteY3" fmla="*/ 5307874 h 5307874"/>
              <a:gd name="connsiteX4" fmla="*/ 0 w 3587931"/>
              <a:gd name="connsiteY4" fmla="*/ 0 h 5307874"/>
              <a:gd name="connsiteX0" fmla="*/ 0 w 3587931"/>
              <a:gd name="connsiteY0" fmla="*/ 0 h 5307874"/>
              <a:gd name="connsiteX1" fmla="*/ 3587931 w 3587931"/>
              <a:gd name="connsiteY1" fmla="*/ 0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587931"/>
              <a:gd name="connsiteY0" fmla="*/ 0 h 5307874"/>
              <a:gd name="connsiteX1" fmla="*/ 1463039 w 3587931"/>
              <a:gd name="connsiteY1" fmla="*/ 1445623 h 5307874"/>
              <a:gd name="connsiteX2" fmla="*/ 3587931 w 3587931"/>
              <a:gd name="connsiteY2" fmla="*/ 3657600 h 5307874"/>
              <a:gd name="connsiteX3" fmla="*/ 3587931 w 3587931"/>
              <a:gd name="connsiteY3" fmla="*/ 5307874 h 5307874"/>
              <a:gd name="connsiteX4" fmla="*/ 0 w 3587931"/>
              <a:gd name="connsiteY4" fmla="*/ 5307874 h 5307874"/>
              <a:gd name="connsiteX5" fmla="*/ 0 w 3587931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587931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622765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622765"/>
              <a:gd name="connsiteY0" fmla="*/ 0 h 5307874"/>
              <a:gd name="connsiteX1" fmla="*/ 1463039 w 3622765"/>
              <a:gd name="connsiteY1" fmla="*/ 1445623 h 5307874"/>
              <a:gd name="connsiteX2" fmla="*/ 3578520 w 3622765"/>
              <a:gd name="connsiteY2" fmla="*/ 3614057 h 5307874"/>
              <a:gd name="connsiteX3" fmla="*/ 3622765 w 3622765"/>
              <a:gd name="connsiteY3" fmla="*/ 5307874 h 5307874"/>
              <a:gd name="connsiteX4" fmla="*/ 0 w 3622765"/>
              <a:gd name="connsiteY4" fmla="*/ 5307874 h 5307874"/>
              <a:gd name="connsiteX5" fmla="*/ 0 w 3622765"/>
              <a:gd name="connsiteY5" fmla="*/ 0 h 5307874"/>
              <a:gd name="connsiteX0" fmla="*/ 0 w 3593268"/>
              <a:gd name="connsiteY0" fmla="*/ 0 h 5307874"/>
              <a:gd name="connsiteX1" fmla="*/ 1463039 w 3593268"/>
              <a:gd name="connsiteY1" fmla="*/ 1445623 h 5307874"/>
              <a:gd name="connsiteX2" fmla="*/ 3578520 w 3593268"/>
              <a:gd name="connsiteY2" fmla="*/ 3614057 h 5307874"/>
              <a:gd name="connsiteX3" fmla="*/ 3593268 w 3593268"/>
              <a:gd name="connsiteY3" fmla="*/ 5307874 h 5307874"/>
              <a:gd name="connsiteX4" fmla="*/ 0 w 3593268"/>
              <a:gd name="connsiteY4" fmla="*/ 5307874 h 5307874"/>
              <a:gd name="connsiteX5" fmla="*/ 0 w 3593268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63771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1146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78520"/>
              <a:gd name="connsiteY0" fmla="*/ 0 h 5307874"/>
              <a:gd name="connsiteX1" fmla="*/ 1463039 w 3578520"/>
              <a:gd name="connsiteY1" fmla="*/ 1445623 h 5307874"/>
              <a:gd name="connsiteX2" fmla="*/ 3578520 w 3578520"/>
              <a:gd name="connsiteY2" fmla="*/ 3614057 h 5307874"/>
              <a:gd name="connsiteX3" fmla="*/ 3578520 w 3578520"/>
              <a:gd name="connsiteY3" fmla="*/ 5307874 h 5307874"/>
              <a:gd name="connsiteX4" fmla="*/ 0 w 3578520"/>
              <a:gd name="connsiteY4" fmla="*/ 5307874 h 5307874"/>
              <a:gd name="connsiteX5" fmla="*/ 0 w 3578520"/>
              <a:gd name="connsiteY5" fmla="*/ 0 h 5307874"/>
              <a:gd name="connsiteX0" fmla="*/ 0 w 3599785"/>
              <a:gd name="connsiteY0" fmla="*/ 0 h 3872478"/>
              <a:gd name="connsiteX1" fmla="*/ 1484304 w 3599785"/>
              <a:gd name="connsiteY1" fmla="*/ 10227 h 3872478"/>
              <a:gd name="connsiteX2" fmla="*/ 3599785 w 3599785"/>
              <a:gd name="connsiteY2" fmla="*/ 2178661 h 3872478"/>
              <a:gd name="connsiteX3" fmla="*/ 3599785 w 3599785"/>
              <a:gd name="connsiteY3" fmla="*/ 3872478 h 3872478"/>
              <a:gd name="connsiteX4" fmla="*/ 21265 w 3599785"/>
              <a:gd name="connsiteY4" fmla="*/ 3872478 h 3872478"/>
              <a:gd name="connsiteX5" fmla="*/ 0 w 3599785"/>
              <a:gd name="connsiteY5" fmla="*/ 0 h 3872478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21265 w 3599785"/>
              <a:gd name="connsiteY4" fmla="*/ 3872478 h 4223352"/>
              <a:gd name="connsiteX5" fmla="*/ 0 w 3599785"/>
              <a:gd name="connsiteY5" fmla="*/ 0 h 4223352"/>
              <a:gd name="connsiteX0" fmla="*/ 0 w 3599785"/>
              <a:gd name="connsiteY0" fmla="*/ 0 h 4223352"/>
              <a:gd name="connsiteX1" fmla="*/ 1484304 w 3599785"/>
              <a:gd name="connsiteY1" fmla="*/ 10227 h 4223352"/>
              <a:gd name="connsiteX2" fmla="*/ 3599785 w 3599785"/>
              <a:gd name="connsiteY2" fmla="*/ 2178661 h 4223352"/>
              <a:gd name="connsiteX3" fmla="*/ 3589153 w 3599785"/>
              <a:gd name="connsiteY3" fmla="*/ 4223352 h 4223352"/>
              <a:gd name="connsiteX4" fmla="*/ 0 w 3599785"/>
              <a:gd name="connsiteY4" fmla="*/ 4212720 h 4223352"/>
              <a:gd name="connsiteX5" fmla="*/ 0 w 3599785"/>
              <a:gd name="connsiteY5" fmla="*/ 0 h 4223352"/>
              <a:gd name="connsiteX0" fmla="*/ 0 w 3599785"/>
              <a:gd name="connsiteY0" fmla="*/ 7190 h 4230542"/>
              <a:gd name="connsiteX1" fmla="*/ 1484304 w 3599785"/>
              <a:gd name="connsiteY1" fmla="*/ 0 h 4230542"/>
              <a:gd name="connsiteX2" fmla="*/ 3599785 w 3599785"/>
              <a:gd name="connsiteY2" fmla="*/ 2185851 h 4230542"/>
              <a:gd name="connsiteX3" fmla="*/ 3589153 w 3599785"/>
              <a:gd name="connsiteY3" fmla="*/ 4230542 h 4230542"/>
              <a:gd name="connsiteX4" fmla="*/ 0 w 3599785"/>
              <a:gd name="connsiteY4" fmla="*/ 4219910 h 4230542"/>
              <a:gd name="connsiteX5" fmla="*/ 0 w 3599785"/>
              <a:gd name="connsiteY5" fmla="*/ 7190 h 4230542"/>
              <a:gd name="connsiteX0" fmla="*/ 0 w 3607160"/>
              <a:gd name="connsiteY0" fmla="*/ 14564 h 4230542"/>
              <a:gd name="connsiteX1" fmla="*/ 1491679 w 3607160"/>
              <a:gd name="connsiteY1" fmla="*/ 0 h 4230542"/>
              <a:gd name="connsiteX2" fmla="*/ 3607160 w 3607160"/>
              <a:gd name="connsiteY2" fmla="*/ 2185851 h 4230542"/>
              <a:gd name="connsiteX3" fmla="*/ 3596528 w 3607160"/>
              <a:gd name="connsiteY3" fmla="*/ 4230542 h 4230542"/>
              <a:gd name="connsiteX4" fmla="*/ 7375 w 3607160"/>
              <a:gd name="connsiteY4" fmla="*/ 4219910 h 4230542"/>
              <a:gd name="connsiteX5" fmla="*/ 0 w 3607160"/>
              <a:gd name="connsiteY5" fmla="*/ 14564 h 4230542"/>
              <a:gd name="connsiteX0" fmla="*/ 709 w 3600495"/>
              <a:gd name="connsiteY0" fmla="*/ 0 h 4407707"/>
              <a:gd name="connsiteX1" fmla="*/ 1485014 w 3600495"/>
              <a:gd name="connsiteY1" fmla="*/ 177165 h 4407707"/>
              <a:gd name="connsiteX2" fmla="*/ 3600495 w 3600495"/>
              <a:gd name="connsiteY2" fmla="*/ 2363016 h 4407707"/>
              <a:gd name="connsiteX3" fmla="*/ 3589863 w 3600495"/>
              <a:gd name="connsiteY3" fmla="*/ 4407707 h 4407707"/>
              <a:gd name="connsiteX4" fmla="*/ 710 w 3600495"/>
              <a:gd name="connsiteY4" fmla="*/ 4397075 h 4407707"/>
              <a:gd name="connsiteX5" fmla="*/ 709 w 3600495"/>
              <a:gd name="connsiteY5" fmla="*/ 0 h 4407707"/>
              <a:gd name="connsiteX0" fmla="*/ 709 w 3600495"/>
              <a:gd name="connsiteY0" fmla="*/ 0 h 4230727"/>
              <a:gd name="connsiteX1" fmla="*/ 1485014 w 3600495"/>
              <a:gd name="connsiteY1" fmla="*/ 185 h 4230727"/>
              <a:gd name="connsiteX2" fmla="*/ 3600495 w 3600495"/>
              <a:gd name="connsiteY2" fmla="*/ 2186036 h 4230727"/>
              <a:gd name="connsiteX3" fmla="*/ 3589863 w 3600495"/>
              <a:gd name="connsiteY3" fmla="*/ 4230727 h 4230727"/>
              <a:gd name="connsiteX4" fmla="*/ 710 w 3600495"/>
              <a:gd name="connsiteY4" fmla="*/ 4220095 h 4230727"/>
              <a:gd name="connsiteX5" fmla="*/ 709 w 3600495"/>
              <a:gd name="connsiteY5" fmla="*/ 0 h 4230727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3589863 w 5551215"/>
              <a:gd name="connsiteY3" fmla="*/ 4230727 h 4232550"/>
              <a:gd name="connsiteX4" fmla="*/ 710 w 5551215"/>
              <a:gd name="connsiteY4" fmla="*/ 4220095 h 4232550"/>
              <a:gd name="connsiteX5" fmla="*/ 709 w 5551215"/>
              <a:gd name="connsiteY5" fmla="*/ 0 h 4232550"/>
              <a:gd name="connsiteX0" fmla="*/ 709 w 5551215"/>
              <a:gd name="connsiteY0" fmla="*/ 0 h 4232550"/>
              <a:gd name="connsiteX1" fmla="*/ 1485014 w 5551215"/>
              <a:gd name="connsiteY1" fmla="*/ 185 h 4232550"/>
              <a:gd name="connsiteX2" fmla="*/ 5551215 w 5551215"/>
              <a:gd name="connsiteY2" fmla="*/ 4232550 h 4232550"/>
              <a:gd name="connsiteX3" fmla="*/ 710 w 5551215"/>
              <a:gd name="connsiteY3" fmla="*/ 4220095 h 4232550"/>
              <a:gd name="connsiteX4" fmla="*/ 709 w 5551215"/>
              <a:gd name="connsiteY4" fmla="*/ 0 h 4232550"/>
              <a:gd name="connsiteX0" fmla="*/ 709 w 5551215"/>
              <a:gd name="connsiteY0" fmla="*/ 0 h 4224599"/>
              <a:gd name="connsiteX1" fmla="*/ 1485014 w 5551215"/>
              <a:gd name="connsiteY1" fmla="*/ 185 h 4224599"/>
              <a:gd name="connsiteX2" fmla="*/ 5551215 w 5551215"/>
              <a:gd name="connsiteY2" fmla="*/ 4224599 h 4224599"/>
              <a:gd name="connsiteX3" fmla="*/ 710 w 5551215"/>
              <a:gd name="connsiteY3" fmla="*/ 4220095 h 4224599"/>
              <a:gd name="connsiteX4" fmla="*/ 709 w 5551215"/>
              <a:gd name="connsiteY4" fmla="*/ 0 h 42245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51215" h="4224599">
                <a:moveTo>
                  <a:pt x="709" y="0"/>
                </a:moveTo>
                <a:lnTo>
                  <a:pt x="1485014" y="185"/>
                </a:lnTo>
                <a:lnTo>
                  <a:pt x="5551215" y="4224599"/>
                </a:lnTo>
                <a:lnTo>
                  <a:pt x="710" y="4220095"/>
                </a:lnTo>
                <a:cubicBezTo>
                  <a:pt x="-1748" y="2818313"/>
                  <a:pt x="3167" y="1401782"/>
                  <a:pt x="709" y="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de-DE"/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0" hasCustomPrompt="1"/>
          </p:nvPr>
        </p:nvSpPr>
        <p:spPr>
          <a:xfrm>
            <a:off x="882808" y="2852116"/>
            <a:ext cx="1802014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Vorname, Name</a:t>
            </a:r>
          </a:p>
        </p:txBody>
      </p:sp>
      <p:sp>
        <p:nvSpPr>
          <p:cNvPr id="1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15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882772" y="5028236"/>
            <a:ext cx="6090752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 marL="0" indent="0" algn="l">
              <a:buNone/>
              <a:defRPr b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16" name="Textplatzhalter 25">
            <a:extLst>
              <a:ext uri="{FF2B5EF4-FFF2-40B4-BE49-F238E27FC236}">
                <a16:creationId xmlns:a16="http://schemas.microsoft.com/office/drawing/2014/main" id="{78DD96F1-BE0C-4FE4-B69F-BA8592656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82808" y="3138045"/>
            <a:ext cx="3138020" cy="246221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spcBef>
                <a:spcPts val="0"/>
              </a:spcBef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Struktureinheit der TU Dresden</a:t>
            </a:r>
          </a:p>
        </p:txBody>
      </p:sp>
      <p:sp>
        <p:nvSpPr>
          <p:cNvPr id="1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  <p:sp>
        <p:nvSpPr>
          <p:cNvPr id="24" name="Textplatzhalter 7">
            <a:extLst>
              <a:ext uri="{FF2B5EF4-FFF2-40B4-BE49-F238E27FC236}">
                <a16:creationId xmlns:a16="http://schemas.microsoft.com/office/drawing/2014/main" id="{F1D71DE1-F9B2-4550-A173-A1C0CE63C08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808" y="5312641"/>
            <a:ext cx="4711084" cy="246221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Ort oder Anlass des Vortrags // 18. Februar 2022</a:t>
            </a:r>
          </a:p>
        </p:txBody>
      </p:sp>
      <p:pic>
        <p:nvPicPr>
          <p:cNvPr id="13" name="Grafik 12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348" y="348373"/>
            <a:ext cx="1468046" cy="543600"/>
          </a:xfrm>
          <a:prstGeom prst="rect">
            <a:avLst/>
          </a:prstGeom>
        </p:spPr>
      </p:pic>
      <p:pic>
        <p:nvPicPr>
          <p:cNvPr id="22" name="Grafik 21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304" y="348373"/>
            <a:ext cx="1764000" cy="5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14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ein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>
          <a:xfrm>
            <a:off x="874711" y="1484313"/>
            <a:ext cx="10580688" cy="4344987"/>
          </a:xfrm>
        </p:spPr>
        <p:txBody>
          <a:bodyPr/>
          <a:lstStyle>
            <a:lvl1pPr>
              <a:spcBef>
                <a:spcPts val="1200"/>
              </a:spcBef>
              <a:defRPr/>
            </a:lvl1pPr>
            <a:lvl3pPr>
              <a:spcBef>
                <a:spcPts val="1200"/>
              </a:spcBef>
              <a:defRPr/>
            </a:lvl3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525635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2 Inhalt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quarter" idx="15"/>
          </p:nvPr>
        </p:nvSpPr>
        <p:spPr>
          <a:xfrm>
            <a:off x="6267450" y="1481138"/>
            <a:ext cx="519588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321505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6267449" y="1484314"/>
            <a:ext cx="5187950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121242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3384549" cy="434498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86916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 und Bild_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0" y="4101152"/>
            <a:ext cx="12191999" cy="2028186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10580687" cy="23984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74851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el und Inhalt und Bild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070849" y="1484314"/>
            <a:ext cx="4121151" cy="4645024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4"/>
          </p:nvPr>
        </p:nvSpPr>
        <p:spPr>
          <a:xfrm>
            <a:off x="874713" y="1484313"/>
            <a:ext cx="69992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182156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el und 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874713" y="1481138"/>
            <a:ext cx="3398837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quarter" idx="14"/>
          </p:nvPr>
        </p:nvSpPr>
        <p:spPr>
          <a:xfrm>
            <a:off x="4457699" y="1481138"/>
            <a:ext cx="3416301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5"/>
          </p:nvPr>
        </p:nvSpPr>
        <p:spPr>
          <a:xfrm>
            <a:off x="8070850" y="1481138"/>
            <a:ext cx="3384550" cy="436086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1355522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el und 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13"/>
          </p:nvPr>
        </p:nvSpPr>
        <p:spPr>
          <a:xfrm>
            <a:off x="874711" y="1484313"/>
            <a:ext cx="4300539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7"/>
          <p:cNvSpPr>
            <a:spLocks noGrp="1"/>
          </p:cNvSpPr>
          <p:nvPr>
            <p:ph type="pic" sz="quarter" idx="14"/>
          </p:nvPr>
        </p:nvSpPr>
        <p:spPr>
          <a:xfrm>
            <a:off x="874712" y="2943181"/>
            <a:ext cx="4300537" cy="133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7"/>
          <p:cNvSpPr>
            <a:spLocks noGrp="1"/>
          </p:cNvSpPr>
          <p:nvPr>
            <p:ph type="pic" sz="quarter" idx="15"/>
          </p:nvPr>
        </p:nvSpPr>
        <p:spPr>
          <a:xfrm>
            <a:off x="874710" y="4402050"/>
            <a:ext cx="4300537" cy="1427249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6"/>
          </p:nvPr>
        </p:nvSpPr>
        <p:spPr>
          <a:xfrm>
            <a:off x="5365750" y="1484313"/>
            <a:ext cx="6089650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0299343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2 Titel und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 txBox="1">
            <a:spLocks/>
          </p:cNvSpPr>
          <p:nvPr/>
        </p:nvSpPr>
        <p:spPr>
          <a:xfrm>
            <a:off x="6267450" y="368305"/>
            <a:ext cx="5046135" cy="66214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tx2"/>
                </a:solidFill>
                <a:latin typeface="Open Sans" panose="020B0606030504020204" pitchFamily="34" charset="0"/>
                <a:ea typeface="+mj-ea"/>
                <a:cs typeface="+mj-cs"/>
              </a:defRPr>
            </a:lvl1pPr>
          </a:lstStyle>
          <a:p>
            <a:r>
              <a:rPr lang="de-DE" sz="2400">
                <a:solidFill>
                  <a:schemeClr val="accent1"/>
                </a:solidFill>
              </a:rPr>
              <a:t>Titelmasterformat durch Klicken bearbeiten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874712" y="367507"/>
            <a:ext cx="5195887" cy="662781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2"/>
          </p:nvPr>
        </p:nvSpPr>
        <p:spPr>
          <a:xfrm>
            <a:off x="874713" y="1484313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Inhaltsplatzhalter 3"/>
          <p:cNvSpPr>
            <a:spLocks noGrp="1"/>
          </p:cNvSpPr>
          <p:nvPr>
            <p:ph sz="quarter" idx="13"/>
          </p:nvPr>
        </p:nvSpPr>
        <p:spPr>
          <a:xfrm>
            <a:off x="6273895" y="1486586"/>
            <a:ext cx="5195887" cy="43576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0995071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el und 1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9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Bildplatzhalter 2"/>
          <p:cNvSpPr>
            <a:spLocks noGrp="1"/>
          </p:cNvSpPr>
          <p:nvPr>
            <p:ph type="pic" sz="quarter" idx="11"/>
          </p:nvPr>
        </p:nvSpPr>
        <p:spPr>
          <a:xfrm>
            <a:off x="2579023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278261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2" name="Bildplatzhalter 2"/>
          <p:cNvSpPr>
            <a:spLocks noGrp="1"/>
          </p:cNvSpPr>
          <p:nvPr>
            <p:ph type="pic" sz="quarter" idx="13"/>
          </p:nvPr>
        </p:nvSpPr>
        <p:spPr>
          <a:xfrm>
            <a:off x="5977499" y="1039484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3" name="Bildplatzhalter 2"/>
          <p:cNvSpPr>
            <a:spLocks noGrp="1"/>
          </p:cNvSpPr>
          <p:nvPr>
            <p:ph type="pic" sz="quarter" idx="14"/>
          </p:nvPr>
        </p:nvSpPr>
        <p:spPr>
          <a:xfrm>
            <a:off x="7676735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4" name="Bildplatzhalter 2"/>
          <p:cNvSpPr>
            <a:spLocks noGrp="1"/>
          </p:cNvSpPr>
          <p:nvPr>
            <p:ph type="pic" sz="quarter" idx="15"/>
          </p:nvPr>
        </p:nvSpPr>
        <p:spPr>
          <a:xfrm>
            <a:off x="887333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5" name="Bildplatzhalter 2"/>
          <p:cNvSpPr>
            <a:spLocks noGrp="1"/>
          </p:cNvSpPr>
          <p:nvPr>
            <p:ph type="pic" sz="quarter" idx="16"/>
          </p:nvPr>
        </p:nvSpPr>
        <p:spPr>
          <a:xfrm>
            <a:off x="2586571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6" name="Bildplatzhalter 2"/>
          <p:cNvSpPr>
            <a:spLocks noGrp="1"/>
          </p:cNvSpPr>
          <p:nvPr>
            <p:ph type="pic" sz="quarter" idx="17"/>
          </p:nvPr>
        </p:nvSpPr>
        <p:spPr>
          <a:xfrm>
            <a:off x="4285809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7" name="Bildplatzhalter 2"/>
          <p:cNvSpPr>
            <a:spLocks noGrp="1"/>
          </p:cNvSpPr>
          <p:nvPr>
            <p:ph type="pic" sz="quarter" idx="18"/>
          </p:nvPr>
        </p:nvSpPr>
        <p:spPr>
          <a:xfrm>
            <a:off x="5985047" y="274907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8" name="Bildplatzhalter 2"/>
          <p:cNvSpPr>
            <a:spLocks noGrp="1"/>
          </p:cNvSpPr>
          <p:nvPr>
            <p:ph type="pic" sz="quarter" idx="19"/>
          </p:nvPr>
        </p:nvSpPr>
        <p:spPr>
          <a:xfrm>
            <a:off x="7684283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9" name="Bildplatzhalter 2"/>
          <p:cNvSpPr>
            <a:spLocks noGrp="1"/>
          </p:cNvSpPr>
          <p:nvPr>
            <p:ph type="pic" sz="quarter" idx="20"/>
          </p:nvPr>
        </p:nvSpPr>
        <p:spPr>
          <a:xfrm>
            <a:off x="885829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0" name="Bildplatzhalter 2"/>
          <p:cNvSpPr>
            <a:spLocks noGrp="1"/>
          </p:cNvSpPr>
          <p:nvPr>
            <p:ph type="pic" sz="quarter" idx="21"/>
          </p:nvPr>
        </p:nvSpPr>
        <p:spPr>
          <a:xfrm>
            <a:off x="2585067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2"/>
          <p:cNvSpPr>
            <a:spLocks noGrp="1"/>
          </p:cNvSpPr>
          <p:nvPr>
            <p:ph type="pic" sz="quarter" idx="22"/>
          </p:nvPr>
        </p:nvSpPr>
        <p:spPr>
          <a:xfrm>
            <a:off x="4284305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2"/>
          <p:cNvSpPr>
            <a:spLocks noGrp="1"/>
          </p:cNvSpPr>
          <p:nvPr>
            <p:ph type="pic" sz="quarter" idx="23"/>
          </p:nvPr>
        </p:nvSpPr>
        <p:spPr>
          <a:xfrm>
            <a:off x="5983543" y="4449615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2"/>
          <p:cNvSpPr>
            <a:spLocks noGrp="1"/>
          </p:cNvSpPr>
          <p:nvPr>
            <p:ph type="pic" sz="quarter" idx="24"/>
          </p:nvPr>
        </p:nvSpPr>
        <p:spPr>
          <a:xfrm>
            <a:off x="7682779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2"/>
          <p:cNvSpPr>
            <a:spLocks noGrp="1"/>
          </p:cNvSpPr>
          <p:nvPr>
            <p:ph type="pic" sz="quarter" idx="25"/>
          </p:nvPr>
        </p:nvSpPr>
        <p:spPr>
          <a:xfrm>
            <a:off x="9385079" y="1037468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5" name="Bildplatzhalter 2"/>
          <p:cNvSpPr>
            <a:spLocks noGrp="1"/>
          </p:cNvSpPr>
          <p:nvPr>
            <p:ph type="pic" sz="quarter" idx="26"/>
          </p:nvPr>
        </p:nvSpPr>
        <p:spPr>
          <a:xfrm>
            <a:off x="9385079" y="274705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6" name="Bildplatzhalter 2"/>
          <p:cNvSpPr>
            <a:spLocks noGrp="1"/>
          </p:cNvSpPr>
          <p:nvPr>
            <p:ph type="pic" sz="quarter" idx="27"/>
          </p:nvPr>
        </p:nvSpPr>
        <p:spPr>
          <a:xfrm>
            <a:off x="9383575" y="4447599"/>
            <a:ext cx="1566000" cy="156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021139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el und 8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879785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1"/>
          </p:nvPr>
        </p:nvSpPr>
        <p:spPr>
          <a:xfrm>
            <a:off x="3575257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2"/>
          </p:nvPr>
        </p:nvSpPr>
        <p:spPr>
          <a:xfrm>
            <a:off x="6270729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3"/>
          </p:nvPr>
        </p:nvSpPr>
        <p:spPr>
          <a:xfrm>
            <a:off x="8966200" y="1030288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80142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3" name="Bildplatzhalter 2"/>
          <p:cNvSpPr>
            <a:spLocks noGrp="1"/>
          </p:cNvSpPr>
          <p:nvPr>
            <p:ph type="pic" sz="quarter" idx="15"/>
          </p:nvPr>
        </p:nvSpPr>
        <p:spPr>
          <a:xfrm>
            <a:off x="3575614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6"/>
          </p:nvPr>
        </p:nvSpPr>
        <p:spPr>
          <a:xfrm>
            <a:off x="6271086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966557" y="3572347"/>
            <a:ext cx="2498415" cy="23418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3457327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el und 6 Bilder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sz="quarter" idx="12"/>
          </p:nvPr>
        </p:nvSpPr>
        <p:spPr>
          <a:xfrm>
            <a:off x="9703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081331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2"/>
          <p:cNvSpPr>
            <a:spLocks noGrp="1"/>
          </p:cNvSpPr>
          <p:nvPr>
            <p:ph type="pic" sz="quarter" idx="14"/>
          </p:nvPr>
        </p:nvSpPr>
        <p:spPr>
          <a:xfrm>
            <a:off x="8152960" y="105758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6" name="Bildplatzhalter 2"/>
          <p:cNvSpPr>
            <a:spLocks noGrp="1"/>
          </p:cNvSpPr>
          <p:nvPr>
            <p:ph type="pic" sz="quarter" idx="15"/>
          </p:nvPr>
        </p:nvSpPr>
        <p:spPr>
          <a:xfrm>
            <a:off x="5151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2"/>
          <p:cNvSpPr>
            <a:spLocks noGrp="1"/>
          </p:cNvSpPr>
          <p:nvPr>
            <p:ph type="pic" sz="quarter" idx="16"/>
          </p:nvPr>
        </p:nvSpPr>
        <p:spPr>
          <a:xfrm>
            <a:off x="4076779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8" name="Bildplatzhalter 2"/>
          <p:cNvSpPr>
            <a:spLocks noGrp="1"/>
          </p:cNvSpPr>
          <p:nvPr>
            <p:ph type="pic" sz="quarter" idx="17"/>
          </p:nvPr>
        </p:nvSpPr>
        <p:spPr>
          <a:xfrm>
            <a:off x="8148408" y="3602514"/>
            <a:ext cx="4050000" cy="252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6628857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1421634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74712" y="346076"/>
            <a:ext cx="10580687" cy="509588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0"/>
          </p:nvPr>
        </p:nvSpPr>
        <p:spPr>
          <a:xfrm>
            <a:off x="0" y="1030288"/>
            <a:ext cx="12192000" cy="509905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610761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0"/>
          </p:nvPr>
        </p:nvSpPr>
        <p:spPr>
          <a:xfrm>
            <a:off x="0" y="6"/>
            <a:ext cx="12192000" cy="6129331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797989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4472171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2"/>
              </a:gs>
              <a:gs pos="100000">
                <a:schemeClr val="accent1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2824448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2"/>
            <a:ext cx="12192000" cy="6129336"/>
          </a:xfrm>
          <a:prstGeom prst="rect">
            <a:avLst/>
          </a:prstGeom>
          <a:gradFill>
            <a:gsLst>
              <a:gs pos="14000">
                <a:schemeClr val="accent5"/>
              </a:gs>
              <a:gs pos="100000">
                <a:schemeClr val="accent4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4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881437" cy="492443"/>
          </a:xfrm>
          <a:noFill/>
          <a:ln>
            <a:noFill/>
          </a:ln>
        </p:spPr>
        <p:txBody>
          <a:bodyPr wrap="none" lIns="0">
            <a:sp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694293" cy="492443"/>
          </a:xfrm>
          <a:prstGeom prst="rect">
            <a:avLst/>
          </a:prstGeom>
          <a:noFill/>
        </p:spPr>
        <p:txBody>
          <a:bodyPr wrap="none" lIns="0">
            <a:spAutoFit/>
          </a:bodyPr>
          <a:lstStyle>
            <a:lvl1pPr>
              <a:defRPr sz="3200" b="0">
                <a:solidFill>
                  <a:schemeClr val="bg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0259379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129338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882771" y="3835706"/>
            <a:ext cx="3941317" cy="492443"/>
          </a:xfrm>
          <a:solidFill>
            <a:schemeClr val="bg1">
              <a:alpha val="90000"/>
            </a:schemeClr>
          </a:solidFill>
          <a:ln>
            <a:noFill/>
          </a:ln>
        </p:spPr>
        <p:txBody>
          <a:bodyPr wrap="none" lIns="72000" tIns="0" rIns="36000" bIns="0">
            <a:spAutoFit/>
          </a:bodyPr>
          <a:lstStyle>
            <a:lvl1pPr>
              <a:defRPr sz="3200" b="1">
                <a:solidFill>
                  <a:schemeClr val="accent1"/>
                </a:solidFill>
              </a:defRPr>
            </a:lvl1pPr>
          </a:lstStyle>
          <a:p>
            <a:r>
              <a:rPr lang="de-DE"/>
              <a:t>Titelmasterformat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AB2194A4-CBE4-4A84-B1E9-D417CDD94A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770" y="4375609"/>
            <a:ext cx="4803348" cy="492443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wrap="none" lIns="72000" tIns="0" rIns="36000" bIns="0">
            <a:spAutoFit/>
          </a:bodyPr>
          <a:lstStyle>
            <a:lvl1pPr>
              <a:defRPr sz="3200" b="0">
                <a:solidFill>
                  <a:schemeClr val="accent1"/>
                </a:solidFill>
              </a:defRPr>
            </a:lvl1pPr>
            <a:lvl3pPr marL="72000" indent="0">
              <a:buNone/>
              <a:defRPr/>
            </a:lvl3pPr>
            <a:lvl4pPr marL="180000" indent="0">
              <a:buNone/>
              <a:defRPr/>
            </a:lvl4pPr>
          </a:lstStyle>
          <a:p>
            <a:pPr lvl="0"/>
            <a:r>
              <a:rPr lang="de-DE"/>
              <a:t>durch Kicken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5865937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52240" y="6675776"/>
            <a:ext cx="1920240" cy="164834"/>
          </a:xfrm>
          <a:prstGeom prst="rect">
            <a:avLst/>
          </a:prstGeom>
        </p:spPr>
        <p:txBody>
          <a:bodyPr/>
          <a:lstStyle/>
          <a:p>
            <a:fld id="{478B6C53-B04F-438C-AC0C-C72A7D60A1BF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BA71-3FBF-4FBC-BF18-10C45DE61E8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94291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376782" y="5527333"/>
            <a:ext cx="1920240" cy="164834"/>
          </a:xfrm>
          <a:prstGeom prst="rect">
            <a:avLst/>
          </a:prstGeom>
        </p:spPr>
        <p:txBody>
          <a:bodyPr/>
          <a:lstStyle/>
          <a:p>
            <a:fld id="{478B6C53-B04F-438C-AC0C-C72A7D60A1BF}" type="datetimeFigureOut">
              <a:rPr lang="de-DE" smtClean="0"/>
              <a:t>22.06.2025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43BA71-3FBF-4FBC-BF18-10C45DE61E8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09649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w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w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/>
              <a:t>Das ist eine Überschrift</a:t>
            </a:r>
            <a:br>
              <a:rPr lang="de-DE"/>
            </a:br>
            <a:r>
              <a:rPr lang="de-DE"/>
              <a:t>in zwei Zeilen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74712" y="1481138"/>
            <a:ext cx="10580687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Erste Textebene (16pt bis Ebene 4)</a:t>
            </a:r>
          </a:p>
          <a:p>
            <a:pPr lvl="1"/>
            <a:r>
              <a:rPr lang="de-DE"/>
              <a:t>Zweite Textebene für Aufzählungen</a:t>
            </a:r>
          </a:p>
          <a:p>
            <a:pPr lvl="2"/>
            <a:r>
              <a:rPr lang="de-DE"/>
              <a:t>Dritte Textebene bei viel Text (14pt)</a:t>
            </a:r>
          </a:p>
          <a:p>
            <a:pPr lvl="3"/>
            <a:r>
              <a:rPr lang="de-DE"/>
              <a:t>Vierte Textebene für Aufzählungen bei viel Text</a:t>
            </a:r>
          </a:p>
          <a:p>
            <a:pPr lvl="4"/>
            <a:r>
              <a:rPr lang="de-DE"/>
              <a:t>Fünfte Ebene (nachfolgend alles 14 </a:t>
            </a:r>
            <a:r>
              <a:rPr lang="de-DE" err="1"/>
              <a:t>pt</a:t>
            </a:r>
            <a:r>
              <a:rPr lang="de-DE"/>
              <a:t>)</a:t>
            </a:r>
          </a:p>
          <a:p>
            <a:pPr lvl="5"/>
            <a:r>
              <a:rPr lang="de-DE"/>
              <a:t>Sechste Textebene für Aufzählungen bei viel Text</a:t>
            </a:r>
          </a:p>
          <a:p>
            <a:pPr lvl="6"/>
            <a:r>
              <a:rPr lang="de-DE"/>
              <a:t>Siebte Textebene für Aufzählungen bei viel Text</a:t>
            </a:r>
          </a:p>
          <a:p>
            <a:pPr lvl="7"/>
            <a:r>
              <a:rPr lang="de-DE"/>
              <a:t>Achte Textebene für Aufzählungen bei viel Text</a:t>
            </a:r>
          </a:p>
          <a:p>
            <a:pPr lvl="8"/>
            <a:r>
              <a:rPr lang="de-DE"/>
              <a:t>Neunte Textebene für Aufzählungen bei viel Text</a:t>
            </a:r>
          </a:p>
          <a:p>
            <a:pPr lvl="5"/>
            <a:endParaRPr lang="de-DE"/>
          </a:p>
        </p:txBody>
      </p:sp>
      <p:sp>
        <p:nvSpPr>
          <p:cNvPr id="4" name="Textfeld 3"/>
          <p:cNvSpPr txBox="1"/>
          <p:nvPr userDrawn="1"/>
        </p:nvSpPr>
        <p:spPr>
          <a:xfrm>
            <a:off x="2477770" y="6319797"/>
            <a:ext cx="4485005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>
                <a:solidFill>
                  <a:schemeClr val="tx2"/>
                </a:solidFill>
              </a:rPr>
              <a:t>Debugging mit IDEs</a:t>
            </a: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8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Wingdings" panose="05000000000000000000" pitchFamily="2" charset="2"/>
              </a:rPr>
              <a:t>Fakultät Informatik, Professur Softwaretechnologie / Geisel Oliver</a:t>
            </a: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 baseline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Textfeld 11"/>
          <p:cNvSpPr txBox="1"/>
          <p:nvPr userDrawn="1"/>
        </p:nvSpPr>
        <p:spPr>
          <a:xfrm>
            <a:off x="7157720" y="6306444"/>
            <a:ext cx="704850" cy="36933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de-DE" sz="8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de-DE" sz="80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Folie</a:t>
            </a:r>
            <a:r>
              <a:rPr lang="de-DE" sz="800" baseline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fld id="{38F97D41-8991-4148-BA02-56FEE4AAF2CC}" type="slidenum">
              <a:rPr lang="de-DE" sz="800" baseline="0" smtClean="0">
                <a:solidFill>
                  <a:schemeClr val="tx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 marL="0" marR="0" lvl="0" indent="0" algn="l" defTabSz="9142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‹Nr.›</a:t>
            </a:fld>
            <a:endParaRPr lang="de-DE" sz="800" baseline="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800">
              <a:solidFill>
                <a:schemeClr val="tx2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9" name="Grafik 8" descr="Logo. Schriftzug &quot;Technische Universität Dresden&quot;. Links davon befindet sich ein Achteck, das in zwei Bereiche aufgeteilt ist, die zusammen die Buchstaben &quot;T&quot; und &quot;U&quot; ergeben." title="Logo der TU Dresden"/>
          <p:cNvPicPr>
            <a:picLocks noChangeAspect="1"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825" y="6334048"/>
            <a:ext cx="1116268" cy="324000"/>
          </a:xfrm>
          <a:prstGeom prst="rect">
            <a:avLst/>
          </a:prstGeom>
        </p:spPr>
      </p:pic>
      <p:pic>
        <p:nvPicPr>
          <p:cNvPr id="13" name="Grafik 12" descr="Logo. Acht unregelmäßige Dreiecksflächen sind, im Uhrzeigersinn einen Farbverlauf von dunkelblau bis hellgrün ergebend, zu einem regelmäßig achteckigen Ring angeordnet. Links daneben zweizeilig der Schriftzug &quot;DRESDEN concept" title="Logo Dresden concept"/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0730" y="6315776"/>
            <a:ext cx="972216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37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</p:sldLayoutIdLst>
  <p:txStyles>
    <p:titleStyle>
      <a:lvl1pPr algn="l" defTabSz="914269" rtl="0" eaLnBrk="1" latinLnBrk="0" hangingPunct="1">
        <a:spcBef>
          <a:spcPct val="0"/>
        </a:spcBef>
        <a:buNone/>
        <a:defRPr sz="24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269" rtl="0" eaLnBrk="1" latinLnBrk="0" hangingPunct="1">
        <a:spcBef>
          <a:spcPts val="600"/>
        </a:spcBef>
        <a:buFont typeface="Arial" panose="020B0604020202020204" pitchFamily="34" charset="0"/>
        <a:buNone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1pPr>
      <a:lvl2pPr marL="0" indent="0" algn="l" defTabSz="914269" rtl="0" eaLnBrk="1" latinLnBrk="0" hangingPunct="1">
        <a:spcBef>
          <a:spcPts val="600"/>
        </a:spcBef>
        <a:buFont typeface="Open Sans" panose="020B0606030504020204" pitchFamily="34" charset="0"/>
        <a:buNone/>
        <a:defRPr sz="16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252000" indent="-252000" algn="l" defTabSz="914269" rtl="0" eaLnBrk="1" latinLnBrk="0" hangingPunct="1">
        <a:spcBef>
          <a:spcPts val="0"/>
        </a:spcBef>
        <a:buFont typeface="Arial" panose="020B0604020202020204" pitchFamily="34" charset="0"/>
        <a:buChar char="—"/>
        <a:defRPr sz="16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252000" indent="-144000" algn="l" defTabSz="914269" rtl="0" eaLnBrk="1" latinLnBrk="0" hangingPunct="1">
        <a:spcBef>
          <a:spcPts val="0"/>
        </a:spcBef>
        <a:buFont typeface="Open Sans" panose="020B0606030504020204" pitchFamily="34" charset="0"/>
        <a:buChar char="–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269" rtl="0" eaLnBrk="1" latinLnBrk="0" hangingPunct="1">
        <a:spcBef>
          <a:spcPts val="600"/>
        </a:spcBef>
        <a:spcAft>
          <a:spcPts val="0"/>
        </a:spcAft>
        <a:buFont typeface="Symbol" panose="05050102010706020507" pitchFamily="18" charset="2"/>
        <a:buNone/>
        <a:defRPr sz="1400" b="1" kern="1200" baseline="0">
          <a:solidFill>
            <a:schemeClr val="accent1"/>
          </a:solidFill>
          <a:latin typeface="+mn-lt"/>
          <a:ea typeface="+mn-ea"/>
          <a:cs typeface="+mn-cs"/>
        </a:defRPr>
      </a:lvl5pPr>
      <a:lvl6pPr marL="0" marR="0" indent="0" algn="l" defTabSz="914269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sz="1400" b="0" kern="1200">
          <a:solidFill>
            <a:schemeClr val="accent1"/>
          </a:solidFill>
          <a:latin typeface="+mn-lt"/>
          <a:ea typeface="+mn-ea"/>
          <a:cs typeface="+mn-cs"/>
        </a:defRPr>
      </a:lvl6pPr>
      <a:lvl7pPr marL="252000" marR="0" indent="-252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anose="020B0604020202020204" pitchFamily="34" charset="0"/>
        <a:buChar char="—"/>
        <a:tabLst/>
        <a:defRPr lang="de-DE" sz="1400" kern="1200" dirty="0" smtClean="0">
          <a:solidFill>
            <a:schemeClr val="accent1"/>
          </a:solidFill>
          <a:latin typeface="+mn-lt"/>
          <a:ea typeface="+mn-ea"/>
          <a:cs typeface="+mn-cs"/>
        </a:defRPr>
      </a:lvl7pPr>
      <a:lvl8pPr marL="252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Open Sans" panose="020B0606030504020204" pitchFamily="34" charset="0"/>
        <a:buChar char="–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396000" marR="0" indent="-144000" algn="l" defTabSz="914269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Wingdings" panose="05000000000000000000" pitchFamily="2" charset="2"/>
        <a:buChar char="§"/>
        <a:tabLst/>
        <a:defRPr sz="14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5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69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02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34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03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36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70" algn="l" defTabSz="91426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992">
          <p15:clr>
            <a:srgbClr val="F26B43"/>
          </p15:clr>
        </p15:guide>
        <p15:guide id="7" pos="1120">
          <p15:clr>
            <a:srgbClr val="F26B43"/>
          </p15:clr>
        </p15:guide>
        <p15:guide id="8" pos="1676">
          <p15:clr>
            <a:srgbClr val="F26B43"/>
          </p15:clr>
        </p15:guide>
        <p15:guide id="9" pos="1556">
          <p15:clr>
            <a:srgbClr val="F26B43"/>
          </p15:clr>
        </p15:guide>
        <p15:guide id="10" pos="2252">
          <p15:clr>
            <a:srgbClr val="F26B43"/>
          </p15:clr>
        </p15:guide>
        <p15:guide id="11" pos="2128">
          <p15:clr>
            <a:srgbClr val="F26B43"/>
          </p15:clr>
        </p15:guide>
        <p15:guide id="16" pos="3824">
          <p15:clr>
            <a:srgbClr val="F26B43"/>
          </p15:clr>
        </p15:guide>
        <p15:guide id="17" pos="3948">
          <p15:clr>
            <a:srgbClr val="F26B43"/>
          </p15:clr>
        </p15:guide>
        <p15:guide id="20" pos="4384">
          <p15:clr>
            <a:srgbClr val="F26B43"/>
          </p15:clr>
        </p15:guide>
        <p15:guide id="21" pos="4508">
          <p15:clr>
            <a:srgbClr val="F26B43"/>
          </p15:clr>
        </p15:guide>
        <p15:guide id="22" pos="6788">
          <p15:clr>
            <a:srgbClr val="F26B43"/>
          </p15:clr>
        </p15:guide>
        <p15:guide id="23" pos="6656">
          <p15:clr>
            <a:srgbClr val="F26B43"/>
          </p15:clr>
        </p15:guide>
        <p15:guide id="24" pos="4960">
          <p15:clr>
            <a:srgbClr val="F26B43"/>
          </p15:clr>
        </p15:guide>
        <p15:guide id="25" pos="5084">
          <p15:clr>
            <a:srgbClr val="F26B43"/>
          </p15:clr>
        </p15:guide>
        <p15:guide id="30" orient="horz" pos="538">
          <p15:clr>
            <a:srgbClr val="F26B43"/>
          </p15:clr>
        </p15:guide>
        <p15:guide id="31" pos="551">
          <p15:clr>
            <a:srgbClr val="F26B43"/>
          </p15:clr>
        </p15:guide>
        <p15:guide id="39" pos="6085">
          <p15:clr>
            <a:srgbClr val="F26B43"/>
          </p15:clr>
        </p15:guide>
        <p15:guide id="40" pos="6216">
          <p15:clr>
            <a:srgbClr val="F26B43"/>
          </p15:clr>
        </p15:guide>
        <p15:guide id="41" pos="2692">
          <p15:clr>
            <a:srgbClr val="F26B43"/>
          </p15:clr>
        </p15:guide>
        <p15:guide id="42" pos="2808">
          <p15:clr>
            <a:srgbClr val="F26B43"/>
          </p15:clr>
        </p15:guide>
        <p15:guide id="43" pos="3260">
          <p15:clr>
            <a:srgbClr val="F26B43"/>
          </p15:clr>
        </p15:guide>
        <p15:guide id="44" pos="3380">
          <p15:clr>
            <a:srgbClr val="F26B43"/>
          </p15:clr>
        </p15:guide>
        <p15:guide id="50" pos="5520">
          <p15:clr>
            <a:srgbClr val="F26B43"/>
          </p15:clr>
        </p15:guide>
        <p15:guide id="52" orient="horz" pos="933">
          <p15:clr>
            <a:srgbClr val="F26B43"/>
          </p15:clr>
        </p15:guide>
        <p15:guide id="53" orient="horz" pos="759">
          <p15:clr>
            <a:srgbClr val="F26B43"/>
          </p15:clr>
        </p15:guide>
        <p15:guide id="58" orient="horz" pos="218">
          <p15:clr>
            <a:srgbClr val="F26B43"/>
          </p15:clr>
        </p15:guide>
        <p15:guide id="59" orient="horz" pos="3680">
          <p15:clr>
            <a:srgbClr val="F26B43"/>
          </p15:clr>
        </p15:guide>
        <p15:guide id="60" orient="horz" pos="3861">
          <p15:clr>
            <a:srgbClr val="F26B43"/>
          </p15:clr>
        </p15:guide>
        <p15:guide id="62" orient="horz" pos="2130">
          <p15:clr>
            <a:srgbClr val="F26B43"/>
          </p15:clr>
        </p15:guide>
        <p15:guide id="65" pos="5648">
          <p15:clr>
            <a:srgbClr val="F26B43"/>
          </p15:clr>
        </p15:guide>
        <p15:guide id="66" orient="horz" pos="649">
          <p15:clr>
            <a:srgbClr val="F26B43"/>
          </p15:clr>
        </p15:guide>
        <p15:guide id="67" pos="7216">
          <p15:clr>
            <a:srgbClr val="F26B43"/>
          </p15:clr>
        </p15:guide>
        <p15:guide id="69" orient="horz" pos="3988">
          <p15:clr>
            <a:srgbClr val="F26B43"/>
          </p15:clr>
        </p15:guide>
        <p15:guide id="70" orient="horz" pos="4196">
          <p15:clr>
            <a:srgbClr val="F26B43"/>
          </p15:clr>
        </p15:guide>
        <p15:guide id="71" pos="318">
          <p15:clr>
            <a:srgbClr val="F26B43"/>
          </p15:clr>
        </p15:guide>
        <p15:guide id="72" orient="horz" pos="41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github.com/OliverGeisel/Debug-Tutorial" TargetMode="Externa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3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junit.org/junit5/docs/current/user-guide/#writing-tests-annotations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56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5.png"/><Relationship Id="rId7" Type="http://schemas.openxmlformats.org/officeDocument/2006/relationships/image" Target="../media/image33.png"/><Relationship Id="rId12" Type="http://schemas.openxmlformats.org/officeDocument/2006/relationships/image" Target="../media/image4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2.png"/><Relationship Id="rId11" Type="http://schemas.openxmlformats.org/officeDocument/2006/relationships/image" Target="../media/image43.png"/><Relationship Id="rId5" Type="http://schemas.openxmlformats.org/officeDocument/2006/relationships/image" Target="../media/image21.png"/><Relationship Id="rId10" Type="http://schemas.openxmlformats.org/officeDocument/2006/relationships/image" Target="../media/image57.png"/><Relationship Id="rId4" Type="http://schemas.openxmlformats.org/officeDocument/2006/relationships/image" Target="../media/image14.png"/><Relationship Id="rId9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etbrains.com/help/idea/debugging-code.html" TargetMode="External"/><Relationship Id="rId3" Type="http://schemas.openxmlformats.org/officeDocument/2006/relationships/hyperlink" Target="https://docs.oracle.com/javase/specs/jls/se18/jls18.pdf" TargetMode="External"/><Relationship Id="rId7" Type="http://schemas.openxmlformats.org/officeDocument/2006/relationships/hyperlink" Target="https://ieeexplore.ieee.org/document/5399061" TargetMode="External"/><Relationship Id="rId2" Type="http://schemas.openxmlformats.org/officeDocument/2006/relationships/hyperlink" Target="https://docs.oracle.com/en/java/javase/18/docs/api/index.html" TargetMode="Externa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www.german-testing-board.info/lehrplaene/istqbr-certified-tester-schema/entwicklungstester/" TargetMode="External"/><Relationship Id="rId5" Type="http://schemas.openxmlformats.org/officeDocument/2006/relationships/hyperlink" Target="https://junit.org/junit5/docs/current/user-guide/" TargetMode="External"/><Relationship Id="rId10" Type="http://schemas.openxmlformats.org/officeDocument/2006/relationships/hyperlink" Target="https://help.eclipse.org/latest/nav/80" TargetMode="External"/><Relationship Id="rId4" Type="http://schemas.openxmlformats.org/officeDocument/2006/relationships/hyperlink" Target="https://docs.oracle.com/javase/specs/jvms/se18/jvms18.pdf" TargetMode="External"/><Relationship Id="rId9" Type="http://schemas.openxmlformats.org/officeDocument/2006/relationships/hyperlink" Target="https://www.eclipse.org/community/eclipse_newsletter/2017/june/article1.php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58jGpV2Cg50?t=1300" TargetMode="External"/><Relationship Id="rId2" Type="http://schemas.openxmlformats.org/officeDocument/2006/relationships/hyperlink" Target="https://www.youtube.com/watch?v=qkblc5WRn-U" TargetMode="External"/><Relationship Id="rId1" Type="http://schemas.openxmlformats.org/officeDocument/2006/relationships/slideLayout" Target="../slideLayouts/slideLayout3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CC38384-863A-DF3B-1988-ED7480EBB7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2808" y="2852116"/>
            <a:ext cx="1293624" cy="246221"/>
          </a:xfrm>
        </p:spPr>
        <p:txBody>
          <a:bodyPr/>
          <a:lstStyle/>
          <a:p>
            <a:r>
              <a:rPr lang="de-DE"/>
              <a:t>Oliver Geisel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74D35C5-281F-46E3-A92C-835DC617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Debugging mit IDEs</a:t>
            </a:r>
            <a:endParaRPr lang="en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FBDAD0A-EEC3-4C29-8BBD-0C63084EC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2770" y="5622104"/>
            <a:ext cx="7419339" cy="246221"/>
          </a:xfrm>
        </p:spPr>
        <p:txBody>
          <a:bodyPr/>
          <a:lstStyle/>
          <a:p>
            <a:r>
              <a:rPr lang="de-DE" dirty="0"/>
              <a:t>„This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where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fun</a:t>
            </a:r>
            <a:r>
              <a:rPr lang="de-DE" dirty="0"/>
              <a:t> </a:t>
            </a:r>
            <a:r>
              <a:rPr lang="de-DE" dirty="0" err="1"/>
              <a:t>begins</a:t>
            </a:r>
            <a:r>
              <a:rPr lang="de-DE" dirty="0"/>
              <a:t>“ – Anakin Skywalker zu Beginn von Star Wars III</a:t>
            </a:r>
            <a:endParaRPr lang="en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8667D19-0AA7-B062-6A6B-6275BA6130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2808" y="3138045"/>
            <a:ext cx="4844083" cy="246221"/>
          </a:xfrm>
        </p:spPr>
        <p:txBody>
          <a:bodyPr/>
          <a:lstStyle/>
          <a:p>
            <a:r>
              <a:rPr lang="de-DE"/>
              <a:t>Fakultät Informatik, Professur Softwaretechnologie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956B93C-A26A-7121-A5EF-C474434793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770" y="4375609"/>
            <a:ext cx="5302734" cy="215444"/>
          </a:xfrm>
        </p:spPr>
        <p:txBody>
          <a:bodyPr/>
          <a:lstStyle/>
          <a:p>
            <a:r>
              <a:rPr lang="de-DE" sz="1400"/>
              <a:t>Einführung ins Debuggen von Code und das Finden von Fehlern</a:t>
            </a:r>
            <a:endParaRPr lang="en-DE" sz="140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D2A9A96-EC17-B486-FFB6-7E93902510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2770" y="4983468"/>
            <a:ext cx="4602029" cy="246221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28088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CCBFC-5AA9-435F-89AC-CE92E1773E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Inhalt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AF14394-89C7-4B15-9572-14E361963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Wie es nicht geht!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Grundlagen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Der Debugger und seine Bestandteile in einer IDE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Debuggen mit Tests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Das Beispiel Bibliothek</a:t>
            </a:r>
          </a:p>
          <a:p>
            <a:pPr marL="0" indent="0">
              <a:lnSpc>
                <a:spcPct val="150000"/>
              </a:lnSpc>
              <a:buNone/>
            </a:pPr>
            <a:endParaRPr lang="en-DE" sz="1800"/>
          </a:p>
        </p:txBody>
      </p:sp>
    </p:spTree>
    <p:extLst>
      <p:ext uri="{BB962C8B-B14F-4D97-AF65-F5344CB8AC3E}">
        <p14:creationId xmlns:p14="http://schemas.microsoft.com/office/powerpoint/2010/main" val="2608291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985D8-41F2-F713-51EE-82E6293B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5B23B1-D201-ECA4-4E10-6AB2DB418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de-DE" sz="1800" b="1" dirty="0">
                <a:solidFill>
                  <a:srgbClr val="002060"/>
                </a:solidFill>
              </a:rPr>
              <a:t>Kennen der Debugging-Grundlagen </a:t>
            </a:r>
          </a:p>
          <a:p>
            <a:pPr lvl="1">
              <a:lnSpc>
                <a:spcPct val="150000"/>
              </a:lnSpc>
            </a:pPr>
            <a:r>
              <a:rPr lang="de-DE" sz="1800" b="1" dirty="0">
                <a:solidFill>
                  <a:srgbClr val="002060"/>
                </a:solidFill>
              </a:rPr>
              <a:t>Debugging mit der IDE</a:t>
            </a:r>
          </a:p>
          <a:p>
            <a:pPr lvl="1">
              <a:lnSpc>
                <a:spcPct val="150000"/>
              </a:lnSpc>
            </a:pPr>
            <a:r>
              <a:rPr lang="de-DE" sz="1800" b="1" dirty="0">
                <a:solidFill>
                  <a:srgbClr val="002060"/>
                </a:solidFill>
              </a:rPr>
              <a:t>Kennen der Test-Grundlagen</a:t>
            </a:r>
          </a:p>
          <a:p>
            <a:pPr lvl="1">
              <a:lnSpc>
                <a:spcPct val="150000"/>
              </a:lnSpc>
            </a:pPr>
            <a:r>
              <a:rPr lang="de-DE" sz="1800" b="1" dirty="0">
                <a:solidFill>
                  <a:srgbClr val="002060"/>
                </a:solidFill>
              </a:rPr>
              <a:t>Test mit IDEs</a:t>
            </a:r>
          </a:p>
          <a:p>
            <a:pPr lvl="1">
              <a:lnSpc>
                <a:spcPct val="150000"/>
              </a:lnSpc>
            </a:pPr>
            <a:r>
              <a:rPr lang="de-DE" sz="1800" b="1" dirty="0">
                <a:solidFill>
                  <a:srgbClr val="002060"/>
                </a:solidFill>
              </a:rPr>
              <a:t>Bugs mit Hilfe von Tests finden</a:t>
            </a:r>
          </a:p>
          <a:p>
            <a:pPr lvl="1">
              <a:lnSpc>
                <a:spcPct val="150000"/>
              </a:lnSpc>
            </a:pPr>
            <a:r>
              <a:rPr lang="de-DE" sz="1800" b="1" dirty="0">
                <a:solidFill>
                  <a:srgbClr val="002060"/>
                </a:solidFill>
              </a:rPr>
              <a:t>Motivation für Java-Features im Selbststudium</a:t>
            </a:r>
          </a:p>
          <a:p>
            <a:pPr>
              <a:lnSpc>
                <a:spcPct val="150000"/>
              </a:lnSpc>
            </a:pPr>
            <a:endParaRPr lang="en-DE" sz="18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024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C6273A-2F90-4A49-8FC8-5DB009F53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Was wird benötigt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291130-469A-49F1-BCB4-6A0F4DF9E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2000" b="1" dirty="0"/>
              <a:t>Java 8 oder höher für Einführungsbeispiele 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Java 21 für das große Beispiel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IDE der Wahl</a:t>
            </a:r>
          </a:p>
          <a:p>
            <a:pPr>
              <a:lnSpc>
                <a:spcPct val="150000"/>
              </a:lnSpc>
            </a:pPr>
            <a:r>
              <a:rPr lang="de-DE" sz="2000" b="1" dirty="0"/>
              <a:t>Das Repo: </a:t>
            </a:r>
            <a:r>
              <a:rPr lang="de-DE" sz="2000" dirty="0">
                <a:hlinkClick r:id="rId2"/>
              </a:rPr>
              <a:t>https://github.com/OliverGeisel/Debug-Tutorial</a:t>
            </a:r>
            <a:r>
              <a:rPr lang="de-DE" sz="2000" dirty="0"/>
              <a:t> </a:t>
            </a:r>
            <a:endParaRPr lang="de-DE" sz="2000" b="1" dirty="0"/>
          </a:p>
          <a:p>
            <a:pPr>
              <a:lnSpc>
                <a:spcPct val="150000"/>
              </a:lnSpc>
            </a:pPr>
            <a:r>
              <a:rPr lang="de-DE" sz="2000" b="1" dirty="0"/>
              <a:t>Maven </a:t>
            </a:r>
          </a:p>
          <a:p>
            <a:pPr>
              <a:lnSpc>
                <a:spcPct val="150000"/>
              </a:lnSpc>
            </a:pPr>
            <a:r>
              <a:rPr lang="de-DE" sz="2000" dirty="0"/>
              <a:t>Ein „Manuskript“ der Vorlesung kann in der </a:t>
            </a:r>
            <a:r>
              <a:rPr lang="de-DE" sz="2000" dirty="0" err="1"/>
              <a:t>ReadMe</a:t>
            </a:r>
            <a:r>
              <a:rPr lang="de-DE" sz="2000" dirty="0"/>
              <a:t> des Repos gefunden werden</a:t>
            </a:r>
            <a:endParaRPr lang="de-DE" sz="2000" b="1" dirty="0"/>
          </a:p>
          <a:p>
            <a:pPr marL="0" lvl="2" indent="0">
              <a:lnSpc>
                <a:spcPct val="150000"/>
              </a:lnSpc>
              <a:buNone/>
            </a:pPr>
            <a:endParaRPr lang="de-DE" sz="2000" dirty="0"/>
          </a:p>
          <a:p>
            <a:pPr>
              <a:lnSpc>
                <a:spcPct val="150000"/>
              </a:lnSpc>
            </a:pPr>
            <a:endParaRPr lang="en-DE" sz="20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D09AED-BAC7-23FC-A98F-AFF45DEEC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784" y="0"/>
            <a:ext cx="2954216" cy="29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4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471C98-ECA7-7420-88C5-B350D95A8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Von der Idee über die Entwicklung zum Profit </a:t>
            </a:r>
          </a:p>
        </p:txBody>
      </p:sp>
      <p:sp>
        <p:nvSpPr>
          <p:cNvPr id="60" name="Pfeil: nach oben 59">
            <a:extLst>
              <a:ext uri="{FF2B5EF4-FFF2-40B4-BE49-F238E27FC236}">
                <a16:creationId xmlns:a16="http://schemas.microsoft.com/office/drawing/2014/main" id="{4A5262F5-B634-D3FB-579F-2BC42920044B}"/>
              </a:ext>
            </a:extLst>
          </p:cNvPr>
          <p:cNvSpPr/>
          <p:nvPr/>
        </p:nvSpPr>
        <p:spPr>
          <a:xfrm>
            <a:off x="7037952" y="3077098"/>
            <a:ext cx="529715" cy="802175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Pfeil: nach rechts 61">
            <a:extLst>
              <a:ext uri="{FF2B5EF4-FFF2-40B4-BE49-F238E27FC236}">
                <a16:creationId xmlns:a16="http://schemas.microsoft.com/office/drawing/2014/main" id="{0B05A079-10D3-705B-7DA4-DE325955E3FA}"/>
              </a:ext>
            </a:extLst>
          </p:cNvPr>
          <p:cNvSpPr/>
          <p:nvPr/>
        </p:nvSpPr>
        <p:spPr>
          <a:xfrm>
            <a:off x="7719409" y="3818419"/>
            <a:ext cx="798946" cy="274777"/>
          </a:xfrm>
          <a:prstGeom prst="rightArrow">
            <a:avLst/>
          </a:prstGeom>
          <a:solidFill>
            <a:srgbClr val="00305D">
              <a:alpha val="2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49760B74-C17F-BD75-8D15-DBB2FC4914ED}"/>
              </a:ext>
            </a:extLst>
          </p:cNvPr>
          <p:cNvGrpSpPr/>
          <p:nvPr/>
        </p:nvGrpSpPr>
        <p:grpSpPr>
          <a:xfrm>
            <a:off x="170192" y="1325687"/>
            <a:ext cx="2106864" cy="1867989"/>
            <a:chOff x="170192" y="1325687"/>
            <a:chExt cx="2106864" cy="1867989"/>
          </a:xfrm>
        </p:grpSpPr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9E229A4A-1890-2076-89AF-86522FE52121}"/>
                </a:ext>
              </a:extLst>
            </p:cNvPr>
            <p:cNvGrpSpPr/>
            <p:nvPr/>
          </p:nvGrpSpPr>
          <p:grpSpPr>
            <a:xfrm>
              <a:off x="1123950" y="1792357"/>
              <a:ext cx="735429" cy="1217473"/>
              <a:chOff x="2317072" y="1875129"/>
              <a:chExt cx="1269507" cy="2262880"/>
            </a:xfrm>
          </p:grpSpPr>
          <p:grpSp>
            <p:nvGrpSpPr>
              <p:cNvPr id="6" name="Gruppieren 5">
                <a:extLst>
                  <a:ext uri="{FF2B5EF4-FFF2-40B4-BE49-F238E27FC236}">
                    <a16:creationId xmlns:a16="http://schemas.microsoft.com/office/drawing/2014/main" id="{A1E12B79-09B8-5458-A54D-B2B7FF564EE0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4" name="Rechteck: abgerundete Ecken 3">
                  <a:extLst>
                    <a:ext uri="{FF2B5EF4-FFF2-40B4-BE49-F238E27FC236}">
                      <a16:creationId xmlns:a16="http://schemas.microsoft.com/office/drawing/2014/main" id="{A756AEF9-EEBD-3971-64FE-3754D4713B3A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" name="Ellipse 4">
                  <a:extLst>
                    <a:ext uri="{FF2B5EF4-FFF2-40B4-BE49-F238E27FC236}">
                      <a16:creationId xmlns:a16="http://schemas.microsoft.com/office/drawing/2014/main" id="{4351ABF5-41C7-CA0E-E6B3-B6E7D381946D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7" name="Ellipse 6">
                <a:extLst>
                  <a:ext uri="{FF2B5EF4-FFF2-40B4-BE49-F238E27FC236}">
                    <a16:creationId xmlns:a16="http://schemas.microsoft.com/office/drawing/2014/main" id="{DB0EE46D-D683-B543-5E46-067AE0D71E6C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0" name="Sprechblase: rechteckig mit abgerundeten Ecken 9">
              <a:extLst>
                <a:ext uri="{FF2B5EF4-FFF2-40B4-BE49-F238E27FC236}">
                  <a16:creationId xmlns:a16="http://schemas.microsoft.com/office/drawing/2014/main" id="{E626780C-F0DD-C970-1DBF-D88B4946CA28}"/>
                </a:ext>
              </a:extLst>
            </p:cNvPr>
            <p:cNvSpPr/>
            <p:nvPr/>
          </p:nvSpPr>
          <p:spPr>
            <a:xfrm>
              <a:off x="203200" y="1392307"/>
              <a:ext cx="914400" cy="333430"/>
            </a:xfrm>
            <a:prstGeom prst="wedgeRoundRectCallout">
              <a:avLst>
                <a:gd name="adj1" fmla="val 64583"/>
                <a:gd name="adj2" fmla="val 80120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Ich habe eine Idee.</a:t>
              </a:r>
            </a:p>
          </p:txBody>
        </p:sp>
        <p:sp>
          <p:nvSpPr>
            <p:cNvPr id="52" name="Rechteck 51">
              <a:extLst>
                <a:ext uri="{FF2B5EF4-FFF2-40B4-BE49-F238E27FC236}">
                  <a16:creationId xmlns:a16="http://schemas.microsoft.com/office/drawing/2014/main" id="{E9091A2D-EE5C-7450-30CE-5C201C6F54FE}"/>
                </a:ext>
              </a:extLst>
            </p:cNvPr>
            <p:cNvSpPr/>
            <p:nvPr/>
          </p:nvSpPr>
          <p:spPr>
            <a:xfrm>
              <a:off x="170192" y="1325687"/>
              <a:ext cx="2103107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C8521559-EFC8-60EE-CB31-BDA406ED840F}"/>
                </a:ext>
              </a:extLst>
            </p:cNvPr>
            <p:cNvSpPr txBox="1"/>
            <p:nvPr/>
          </p:nvSpPr>
          <p:spPr>
            <a:xfrm>
              <a:off x="1973768" y="2850125"/>
              <a:ext cx="303288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1</a:t>
              </a: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600B9D4A-4F16-C0CF-042B-F934FF056463}"/>
              </a:ext>
            </a:extLst>
          </p:cNvPr>
          <p:cNvGrpSpPr/>
          <p:nvPr/>
        </p:nvGrpSpPr>
        <p:grpSpPr>
          <a:xfrm>
            <a:off x="2273299" y="1325226"/>
            <a:ext cx="2917469" cy="1867990"/>
            <a:chOff x="2273299" y="1325226"/>
            <a:chExt cx="2917469" cy="1867990"/>
          </a:xfrm>
        </p:grpSpPr>
        <p:sp>
          <p:nvSpPr>
            <p:cNvPr id="9" name="Flussdiagramm: Zentralspeicher 8">
              <a:extLst>
                <a:ext uri="{FF2B5EF4-FFF2-40B4-BE49-F238E27FC236}">
                  <a16:creationId xmlns:a16="http://schemas.microsoft.com/office/drawing/2014/main" id="{70311CE8-DC95-9D2E-4458-7578FF87B37F}"/>
                </a:ext>
              </a:extLst>
            </p:cNvPr>
            <p:cNvSpPr/>
            <p:nvPr/>
          </p:nvSpPr>
          <p:spPr>
            <a:xfrm>
              <a:off x="4292600" y="2134886"/>
              <a:ext cx="857250" cy="684213"/>
            </a:xfrm>
            <a:prstGeom prst="flowChartInternalStorage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098D8CC1-BF90-04B8-424E-DA03F83451C1}"/>
                </a:ext>
              </a:extLst>
            </p:cNvPr>
            <p:cNvGrpSpPr/>
            <p:nvPr/>
          </p:nvGrpSpPr>
          <p:grpSpPr>
            <a:xfrm>
              <a:off x="3289300" y="1792357"/>
              <a:ext cx="735429" cy="1217473"/>
              <a:chOff x="2317072" y="1875129"/>
              <a:chExt cx="1269507" cy="2262880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BC3B7ADC-DFA5-580E-95A2-70D071C315D6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14" name="Rechteck: abgerundete Ecken 13">
                  <a:extLst>
                    <a:ext uri="{FF2B5EF4-FFF2-40B4-BE49-F238E27FC236}">
                      <a16:creationId xmlns:a16="http://schemas.microsoft.com/office/drawing/2014/main" id="{C0783A80-30EA-E87B-BD43-B6BA08302608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" name="Ellipse 14">
                  <a:extLst>
                    <a:ext uri="{FF2B5EF4-FFF2-40B4-BE49-F238E27FC236}">
                      <a16:creationId xmlns:a16="http://schemas.microsoft.com/office/drawing/2014/main" id="{0DF6F38F-109A-2A52-AEC1-FE5DC7C2E9CB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ACD69986-F05F-AE00-DE5D-9659C38B4D44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6" name="Sprechblase: rechteckig mit abgerundeten Ecken 15">
              <a:extLst>
                <a:ext uri="{FF2B5EF4-FFF2-40B4-BE49-F238E27FC236}">
                  <a16:creationId xmlns:a16="http://schemas.microsoft.com/office/drawing/2014/main" id="{A5C80355-8577-5975-BFA0-EE0B133F8313}"/>
                </a:ext>
              </a:extLst>
            </p:cNvPr>
            <p:cNvSpPr/>
            <p:nvPr/>
          </p:nvSpPr>
          <p:spPr>
            <a:xfrm>
              <a:off x="2368550" y="1392307"/>
              <a:ext cx="1130300" cy="333430"/>
            </a:xfrm>
            <a:prstGeom prst="wedgeRoundRectCallout">
              <a:avLst>
                <a:gd name="adj1" fmla="val 40988"/>
                <a:gd name="adj2" fmla="val 152489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Ich Programmiere es mal </a:t>
              </a: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88CEA4B5-9308-350B-CE68-176B4E2F9975}"/>
                </a:ext>
              </a:extLst>
            </p:cNvPr>
            <p:cNvSpPr/>
            <p:nvPr/>
          </p:nvSpPr>
          <p:spPr>
            <a:xfrm>
              <a:off x="2273299" y="1325226"/>
              <a:ext cx="2914651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6C325007-13F6-802C-391A-4B837611560F}"/>
                </a:ext>
              </a:extLst>
            </p:cNvPr>
            <p:cNvSpPr txBox="1"/>
            <p:nvPr/>
          </p:nvSpPr>
          <p:spPr>
            <a:xfrm>
              <a:off x="4714356" y="2851584"/>
              <a:ext cx="476412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2.1</a:t>
              </a:r>
            </a:p>
          </p:txBody>
        </p:sp>
      </p:grpSp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03AAACE0-857C-760E-F7E6-7B38A07A7F19}"/>
              </a:ext>
            </a:extLst>
          </p:cNvPr>
          <p:cNvGrpSpPr/>
          <p:nvPr/>
        </p:nvGrpSpPr>
        <p:grpSpPr>
          <a:xfrm>
            <a:off x="5189207" y="1324765"/>
            <a:ext cx="2915821" cy="1867989"/>
            <a:chOff x="5189207" y="1324765"/>
            <a:chExt cx="2915821" cy="1867989"/>
          </a:xfrm>
        </p:grpSpPr>
        <p:sp>
          <p:nvSpPr>
            <p:cNvPr id="17" name="Flussdiagramm: Zentralspeicher 16">
              <a:extLst>
                <a:ext uri="{FF2B5EF4-FFF2-40B4-BE49-F238E27FC236}">
                  <a16:creationId xmlns:a16="http://schemas.microsoft.com/office/drawing/2014/main" id="{FF4B3804-ACF9-9477-2F30-4523BC041123}"/>
                </a:ext>
              </a:extLst>
            </p:cNvPr>
            <p:cNvSpPr/>
            <p:nvPr/>
          </p:nvSpPr>
          <p:spPr>
            <a:xfrm>
              <a:off x="7062369" y="2114606"/>
              <a:ext cx="857250" cy="684213"/>
            </a:xfrm>
            <a:prstGeom prst="flowChartInternalStorage">
              <a:avLst/>
            </a:prstGeom>
            <a:solidFill>
              <a:srgbClr val="FF0000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18" name="Gruppieren 17">
              <a:extLst>
                <a:ext uri="{FF2B5EF4-FFF2-40B4-BE49-F238E27FC236}">
                  <a16:creationId xmlns:a16="http://schemas.microsoft.com/office/drawing/2014/main" id="{AE4CD33E-2706-6BC7-62BB-1C09C4F05804}"/>
                </a:ext>
              </a:extLst>
            </p:cNvPr>
            <p:cNvGrpSpPr/>
            <p:nvPr/>
          </p:nvGrpSpPr>
          <p:grpSpPr>
            <a:xfrm>
              <a:off x="6110455" y="1786237"/>
              <a:ext cx="735429" cy="1217473"/>
              <a:chOff x="2317072" y="1875129"/>
              <a:chExt cx="1269507" cy="2262880"/>
            </a:xfrm>
          </p:grpSpPr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B18C7057-A6B8-7307-09F9-45FD217CA780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21" name="Rechteck: abgerundete Ecken 20">
                  <a:extLst>
                    <a:ext uri="{FF2B5EF4-FFF2-40B4-BE49-F238E27FC236}">
                      <a16:creationId xmlns:a16="http://schemas.microsoft.com/office/drawing/2014/main" id="{368CBDF5-F079-BEFF-4DC9-A126302BB946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" name="Ellipse 21">
                  <a:extLst>
                    <a:ext uri="{FF2B5EF4-FFF2-40B4-BE49-F238E27FC236}">
                      <a16:creationId xmlns:a16="http://schemas.microsoft.com/office/drawing/2014/main" id="{1E91AFA1-9ABD-3916-75F0-FF0E9DA370B4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288A245E-CF0D-CF97-94F1-D0AC729D2116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3" name="Sprechblase: rechteckig mit abgerundeten Ecken 22">
              <a:extLst>
                <a:ext uri="{FF2B5EF4-FFF2-40B4-BE49-F238E27FC236}">
                  <a16:creationId xmlns:a16="http://schemas.microsoft.com/office/drawing/2014/main" id="{238B9CEC-5CDF-E931-49B2-7E0610B4ABD4}"/>
                </a:ext>
              </a:extLst>
            </p:cNvPr>
            <p:cNvSpPr/>
            <p:nvPr/>
          </p:nvSpPr>
          <p:spPr>
            <a:xfrm>
              <a:off x="5265483" y="1392307"/>
              <a:ext cx="1130300" cy="333430"/>
            </a:xfrm>
            <a:prstGeom prst="wedgeRoundRectCallout">
              <a:avLst>
                <a:gd name="adj1" fmla="val 32660"/>
                <a:gd name="adj2" fmla="val 136357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Es geht nicht da ist ein Bug</a:t>
              </a: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A8F9AB08-972F-5AB8-CA54-04E8C7D12C98}"/>
                </a:ext>
              </a:extLst>
            </p:cNvPr>
            <p:cNvSpPr/>
            <p:nvPr/>
          </p:nvSpPr>
          <p:spPr>
            <a:xfrm>
              <a:off x="5189207" y="1324765"/>
              <a:ext cx="2914651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268E6412-2B49-60D3-7BEE-6791A16A0873}"/>
                </a:ext>
              </a:extLst>
            </p:cNvPr>
            <p:cNvSpPr txBox="1"/>
            <p:nvPr/>
          </p:nvSpPr>
          <p:spPr>
            <a:xfrm>
              <a:off x="7628616" y="2850171"/>
              <a:ext cx="476412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2.2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75D5BDC6-531C-F38E-5A57-F8B1EBCEA68C}"/>
              </a:ext>
            </a:extLst>
          </p:cNvPr>
          <p:cNvGrpSpPr/>
          <p:nvPr/>
        </p:nvGrpSpPr>
        <p:grpSpPr>
          <a:xfrm>
            <a:off x="8105827" y="1323317"/>
            <a:ext cx="2914651" cy="1869311"/>
            <a:chOff x="8105827" y="1323317"/>
            <a:chExt cx="2914651" cy="1869311"/>
          </a:xfrm>
        </p:grpSpPr>
        <p:sp>
          <p:nvSpPr>
            <p:cNvPr id="24" name="Flussdiagramm: Zentralspeicher 23">
              <a:extLst>
                <a:ext uri="{FF2B5EF4-FFF2-40B4-BE49-F238E27FC236}">
                  <a16:creationId xmlns:a16="http://schemas.microsoft.com/office/drawing/2014/main" id="{8D2C2DF3-EB21-42CE-5B84-7D118BAEC864}"/>
                </a:ext>
              </a:extLst>
            </p:cNvPr>
            <p:cNvSpPr/>
            <p:nvPr/>
          </p:nvSpPr>
          <p:spPr>
            <a:xfrm>
              <a:off x="9972502" y="1998390"/>
              <a:ext cx="857250" cy="684213"/>
            </a:xfrm>
            <a:prstGeom prst="flowChartInternalStorage">
              <a:avLst/>
            </a:prstGeom>
            <a:solidFill>
              <a:srgbClr val="FF0000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AD0F3C26-7115-7A46-BC10-339B339088B2}"/>
                </a:ext>
              </a:extLst>
            </p:cNvPr>
            <p:cNvGrpSpPr/>
            <p:nvPr/>
          </p:nvGrpSpPr>
          <p:grpSpPr>
            <a:xfrm>
              <a:off x="8996750" y="1848532"/>
              <a:ext cx="735429" cy="1217473"/>
              <a:chOff x="2317072" y="1875129"/>
              <a:chExt cx="1269507" cy="2262880"/>
            </a:xfrm>
          </p:grpSpPr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44706684-A9FB-DAB8-9859-63C876416D2D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28" name="Rechteck: abgerundete Ecken 27">
                  <a:extLst>
                    <a:ext uri="{FF2B5EF4-FFF2-40B4-BE49-F238E27FC236}">
                      <a16:creationId xmlns:a16="http://schemas.microsoft.com/office/drawing/2014/main" id="{B45AA9FF-B3F8-D056-1482-24DEEDC1C179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9" name="Ellipse 28">
                  <a:extLst>
                    <a:ext uri="{FF2B5EF4-FFF2-40B4-BE49-F238E27FC236}">
                      <a16:creationId xmlns:a16="http://schemas.microsoft.com/office/drawing/2014/main" id="{57761981-57A6-69F5-328E-35C9134EBB43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1522CF31-E225-E75E-3B29-71BAEA6A154E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30" name="Sprechblase: rechteckig mit abgerundeten Ecken 29">
              <a:extLst>
                <a:ext uri="{FF2B5EF4-FFF2-40B4-BE49-F238E27FC236}">
                  <a16:creationId xmlns:a16="http://schemas.microsoft.com/office/drawing/2014/main" id="{041F7963-F6D5-0A9C-F30E-295196C39DCD}"/>
                </a:ext>
              </a:extLst>
            </p:cNvPr>
            <p:cNvSpPr/>
            <p:nvPr/>
          </p:nvSpPr>
          <p:spPr>
            <a:xfrm>
              <a:off x="8154541" y="1421645"/>
              <a:ext cx="1130300" cy="333430"/>
            </a:xfrm>
            <a:prstGeom prst="wedgeRoundRectCallout">
              <a:avLst>
                <a:gd name="adj1" fmla="val 33255"/>
                <a:gd name="adj2" fmla="val 142407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Was sagen die Tests?</a:t>
              </a: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DA649F8D-3BE9-D106-F106-A6D02AE316A3}"/>
                </a:ext>
              </a:extLst>
            </p:cNvPr>
            <p:cNvSpPr/>
            <p:nvPr/>
          </p:nvSpPr>
          <p:spPr>
            <a:xfrm>
              <a:off x="8105827" y="1323317"/>
              <a:ext cx="2914651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E6A87FD9-8962-77D6-A44E-AEA15BBCC156}"/>
                </a:ext>
              </a:extLst>
            </p:cNvPr>
            <p:cNvSpPr txBox="1"/>
            <p:nvPr/>
          </p:nvSpPr>
          <p:spPr>
            <a:xfrm>
              <a:off x="10542266" y="2850996"/>
              <a:ext cx="476412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2.3</a:t>
              </a: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91A0EF69-10DA-68E6-6746-908DB98BCD15}"/>
              </a:ext>
            </a:extLst>
          </p:cNvPr>
          <p:cNvGrpSpPr/>
          <p:nvPr/>
        </p:nvGrpSpPr>
        <p:grpSpPr>
          <a:xfrm>
            <a:off x="2277917" y="3192218"/>
            <a:ext cx="2914651" cy="1867989"/>
            <a:chOff x="2277917" y="3192218"/>
            <a:chExt cx="2914651" cy="1867989"/>
          </a:xfrm>
        </p:grpSpPr>
        <p:sp>
          <p:nvSpPr>
            <p:cNvPr id="31" name="Flussdiagramm: Zentralspeicher 30">
              <a:extLst>
                <a:ext uri="{FF2B5EF4-FFF2-40B4-BE49-F238E27FC236}">
                  <a16:creationId xmlns:a16="http://schemas.microsoft.com/office/drawing/2014/main" id="{99C9C616-8CF2-5083-7E96-B58511EFB873}"/>
                </a:ext>
              </a:extLst>
            </p:cNvPr>
            <p:cNvSpPr/>
            <p:nvPr/>
          </p:nvSpPr>
          <p:spPr>
            <a:xfrm>
              <a:off x="3786491" y="3951093"/>
              <a:ext cx="857250" cy="684213"/>
            </a:xfrm>
            <a:prstGeom prst="flowChartInternalStorage">
              <a:avLst/>
            </a:prstGeom>
            <a:solidFill>
              <a:srgbClr val="FF0000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4A27E40D-87C8-F7C3-6973-41E55F8B5E0D}"/>
                </a:ext>
              </a:extLst>
            </p:cNvPr>
            <p:cNvGrpSpPr/>
            <p:nvPr/>
          </p:nvGrpSpPr>
          <p:grpSpPr>
            <a:xfrm>
              <a:off x="2780442" y="3772092"/>
              <a:ext cx="735429" cy="1217473"/>
              <a:chOff x="2317072" y="1875129"/>
              <a:chExt cx="1269507" cy="2262880"/>
            </a:xfrm>
          </p:grpSpPr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0D68D23A-BF8D-928E-AA66-734D9DE99081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35" name="Rechteck: abgerundete Ecken 34">
                  <a:extLst>
                    <a:ext uri="{FF2B5EF4-FFF2-40B4-BE49-F238E27FC236}">
                      <a16:creationId xmlns:a16="http://schemas.microsoft.com/office/drawing/2014/main" id="{C8AEAFD2-188D-6D0E-EC12-EEDA9A94C1A8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6" name="Ellipse 35">
                  <a:extLst>
                    <a:ext uri="{FF2B5EF4-FFF2-40B4-BE49-F238E27FC236}">
                      <a16:creationId xmlns:a16="http://schemas.microsoft.com/office/drawing/2014/main" id="{912FABE5-F118-70AA-BD1B-458B2BB45D27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34" name="Ellipse 33">
                <a:extLst>
                  <a:ext uri="{FF2B5EF4-FFF2-40B4-BE49-F238E27FC236}">
                    <a16:creationId xmlns:a16="http://schemas.microsoft.com/office/drawing/2014/main" id="{8710F46D-4937-C381-D640-9C0C1BDF0E66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37" name="Sprechblase: rechteckig mit abgerundeten Ecken 36">
              <a:extLst>
                <a:ext uri="{FF2B5EF4-FFF2-40B4-BE49-F238E27FC236}">
                  <a16:creationId xmlns:a16="http://schemas.microsoft.com/office/drawing/2014/main" id="{FB75FE1F-332B-921A-200E-10FD577CF490}"/>
                </a:ext>
              </a:extLst>
            </p:cNvPr>
            <p:cNvSpPr/>
            <p:nvPr/>
          </p:nvSpPr>
          <p:spPr>
            <a:xfrm>
              <a:off x="2320560" y="3320058"/>
              <a:ext cx="1130300" cy="333430"/>
            </a:xfrm>
            <a:prstGeom prst="wedgeRoundRectCallout">
              <a:avLst>
                <a:gd name="adj1" fmla="val -7224"/>
                <a:gd name="adj2" fmla="val 149719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Dann Debuggen wir es mal</a:t>
              </a: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BD2D005A-270C-DE4F-FF97-D1AB1CE5DCEF}"/>
                </a:ext>
              </a:extLst>
            </p:cNvPr>
            <p:cNvSpPr/>
            <p:nvPr/>
          </p:nvSpPr>
          <p:spPr>
            <a:xfrm>
              <a:off x="2277917" y="3192218"/>
              <a:ext cx="2914651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6CAA748C-9CF8-E3F6-B1E8-52F2473BA9AE}"/>
                </a:ext>
              </a:extLst>
            </p:cNvPr>
            <p:cNvSpPr txBox="1"/>
            <p:nvPr/>
          </p:nvSpPr>
          <p:spPr>
            <a:xfrm>
              <a:off x="4715272" y="4718160"/>
              <a:ext cx="476412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2.4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CB5DBE20-47FE-34BD-8508-4F4B2046FB40}"/>
              </a:ext>
            </a:extLst>
          </p:cNvPr>
          <p:cNvGrpSpPr/>
          <p:nvPr/>
        </p:nvGrpSpPr>
        <p:grpSpPr>
          <a:xfrm>
            <a:off x="5190226" y="3192122"/>
            <a:ext cx="2914651" cy="1868358"/>
            <a:chOff x="5190226" y="3192122"/>
            <a:chExt cx="2914651" cy="1868358"/>
          </a:xfrm>
        </p:grpSpPr>
        <p:sp>
          <p:nvSpPr>
            <p:cNvPr id="38" name="Flussdiagramm: Zentralspeicher 37">
              <a:extLst>
                <a:ext uri="{FF2B5EF4-FFF2-40B4-BE49-F238E27FC236}">
                  <a16:creationId xmlns:a16="http://schemas.microsoft.com/office/drawing/2014/main" id="{051794A6-AFED-CC31-E014-AE993FB9C921}"/>
                </a:ext>
              </a:extLst>
            </p:cNvPr>
            <p:cNvSpPr/>
            <p:nvPr/>
          </p:nvSpPr>
          <p:spPr>
            <a:xfrm>
              <a:off x="6642388" y="4184096"/>
              <a:ext cx="857250" cy="684213"/>
            </a:xfrm>
            <a:prstGeom prst="flowChartInternalStorage">
              <a:avLst/>
            </a:prstGeom>
            <a:solidFill>
              <a:srgbClr val="00B0F0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27848620-EDFB-E13F-9B23-D837C334EF18}"/>
                </a:ext>
              </a:extLst>
            </p:cNvPr>
            <p:cNvGrpSpPr/>
            <p:nvPr/>
          </p:nvGrpSpPr>
          <p:grpSpPr>
            <a:xfrm>
              <a:off x="5789099" y="3706638"/>
              <a:ext cx="735429" cy="1217473"/>
              <a:chOff x="2317072" y="1875129"/>
              <a:chExt cx="1269507" cy="2262880"/>
            </a:xfrm>
          </p:grpSpPr>
          <p:grpSp>
            <p:nvGrpSpPr>
              <p:cNvPr id="40" name="Gruppieren 39">
                <a:extLst>
                  <a:ext uri="{FF2B5EF4-FFF2-40B4-BE49-F238E27FC236}">
                    <a16:creationId xmlns:a16="http://schemas.microsoft.com/office/drawing/2014/main" id="{61A4CD3C-88F6-B762-A469-99E27B7A95D4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42" name="Rechteck: abgerundete Ecken 41">
                  <a:extLst>
                    <a:ext uri="{FF2B5EF4-FFF2-40B4-BE49-F238E27FC236}">
                      <a16:creationId xmlns:a16="http://schemas.microsoft.com/office/drawing/2014/main" id="{B0697463-C54D-F1CB-87CA-5E4F5ECC10EC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3E76EA12-6820-AF8E-FF88-6DA491706B2F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829286EC-8F30-83D9-F2BE-3433582B1AA6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4" name="Sprechblase: rechteckig mit abgerundeten Ecken 43">
              <a:extLst>
                <a:ext uri="{FF2B5EF4-FFF2-40B4-BE49-F238E27FC236}">
                  <a16:creationId xmlns:a16="http://schemas.microsoft.com/office/drawing/2014/main" id="{6B04739D-B57F-4C95-DE3F-5626CB0D1984}"/>
                </a:ext>
              </a:extLst>
            </p:cNvPr>
            <p:cNvSpPr/>
            <p:nvPr/>
          </p:nvSpPr>
          <p:spPr>
            <a:xfrm>
              <a:off x="5265483" y="3250330"/>
              <a:ext cx="1130300" cy="333430"/>
            </a:xfrm>
            <a:prstGeom prst="wedgeRoundRectCallout">
              <a:avLst>
                <a:gd name="adj1" fmla="val -1095"/>
                <a:gd name="adj2" fmla="val 117863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Es geht</a:t>
              </a: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26B79441-1F92-8C1D-6908-66CD9BB986BE}"/>
                </a:ext>
              </a:extLst>
            </p:cNvPr>
            <p:cNvSpPr/>
            <p:nvPr/>
          </p:nvSpPr>
          <p:spPr>
            <a:xfrm>
              <a:off x="5190226" y="3192122"/>
              <a:ext cx="2914651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33C1752A-2D87-32D1-3909-C3C79020D545}"/>
                </a:ext>
              </a:extLst>
            </p:cNvPr>
            <p:cNvSpPr txBox="1"/>
            <p:nvPr/>
          </p:nvSpPr>
          <p:spPr>
            <a:xfrm>
              <a:off x="7627365" y="4718848"/>
              <a:ext cx="476412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2.5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C9D611F1-064A-EBEF-EFC3-C0966DCE9948}"/>
              </a:ext>
            </a:extLst>
          </p:cNvPr>
          <p:cNvGrpSpPr/>
          <p:nvPr/>
        </p:nvGrpSpPr>
        <p:grpSpPr>
          <a:xfrm>
            <a:off x="8105827" y="3191574"/>
            <a:ext cx="2914651" cy="1903253"/>
            <a:chOff x="8105827" y="3191574"/>
            <a:chExt cx="2914651" cy="1903253"/>
          </a:xfrm>
        </p:grpSpPr>
        <p:sp>
          <p:nvSpPr>
            <p:cNvPr id="45" name="Flussdiagramm: Zentralspeicher 44">
              <a:extLst>
                <a:ext uri="{FF2B5EF4-FFF2-40B4-BE49-F238E27FC236}">
                  <a16:creationId xmlns:a16="http://schemas.microsoft.com/office/drawing/2014/main" id="{74FA9240-2C9E-48D8-95CB-8E5F585674F6}"/>
                </a:ext>
              </a:extLst>
            </p:cNvPr>
            <p:cNvSpPr/>
            <p:nvPr/>
          </p:nvSpPr>
          <p:spPr>
            <a:xfrm>
              <a:off x="10062612" y="3491749"/>
              <a:ext cx="857250" cy="684213"/>
            </a:xfrm>
            <a:prstGeom prst="flowChartInternalStorage">
              <a:avLst/>
            </a:prstGeom>
            <a:solidFill>
              <a:srgbClr val="00B050"/>
            </a:solidFill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92AA94B3-5BCF-B050-16DB-EC7D2B28F970}"/>
                </a:ext>
              </a:extLst>
            </p:cNvPr>
            <p:cNvGrpSpPr/>
            <p:nvPr/>
          </p:nvGrpSpPr>
          <p:grpSpPr>
            <a:xfrm>
              <a:off x="9118927" y="3683997"/>
              <a:ext cx="735429" cy="1217473"/>
              <a:chOff x="2317072" y="1875129"/>
              <a:chExt cx="1269507" cy="2262880"/>
            </a:xfrm>
          </p:grpSpPr>
          <p:grpSp>
            <p:nvGrpSpPr>
              <p:cNvPr id="47" name="Gruppieren 46">
                <a:extLst>
                  <a:ext uri="{FF2B5EF4-FFF2-40B4-BE49-F238E27FC236}">
                    <a16:creationId xmlns:a16="http://schemas.microsoft.com/office/drawing/2014/main" id="{C676E2AC-7109-9124-5417-C01A23D44162}"/>
                  </a:ext>
                </a:extLst>
              </p:cNvPr>
              <p:cNvGrpSpPr/>
              <p:nvPr/>
            </p:nvGrpSpPr>
            <p:grpSpPr>
              <a:xfrm>
                <a:off x="2317072" y="2913354"/>
                <a:ext cx="1269507" cy="1224655"/>
                <a:chOff x="2317072" y="2913354"/>
                <a:chExt cx="1269507" cy="1224655"/>
              </a:xfrm>
            </p:grpSpPr>
            <p:sp>
              <p:nvSpPr>
                <p:cNvPr id="49" name="Rechteck: abgerundete Ecken 48">
                  <a:extLst>
                    <a:ext uri="{FF2B5EF4-FFF2-40B4-BE49-F238E27FC236}">
                      <a16:creationId xmlns:a16="http://schemas.microsoft.com/office/drawing/2014/main" id="{7B6FE8FF-C6D4-8D2C-81BC-5C9BBE86B815}"/>
                    </a:ext>
                  </a:extLst>
                </p:cNvPr>
                <p:cNvSpPr/>
                <p:nvPr/>
              </p:nvSpPr>
              <p:spPr>
                <a:xfrm>
                  <a:off x="2317072" y="3428999"/>
                  <a:ext cx="1269507" cy="709010"/>
                </a:xfrm>
                <a:prstGeom prst="roundRect">
                  <a:avLst>
                    <a:gd name="adj" fmla="val 4256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0" name="Ellipse 49">
                  <a:extLst>
                    <a:ext uri="{FF2B5EF4-FFF2-40B4-BE49-F238E27FC236}">
                      <a16:creationId xmlns:a16="http://schemas.microsoft.com/office/drawing/2014/main" id="{13D34BCC-C086-7067-10DD-3529A1F0FF65}"/>
                    </a:ext>
                  </a:extLst>
                </p:cNvPr>
                <p:cNvSpPr/>
                <p:nvPr/>
              </p:nvSpPr>
              <p:spPr>
                <a:xfrm>
                  <a:off x="2317072" y="2913354"/>
                  <a:ext cx="1269507" cy="1100831"/>
                </a:xfrm>
                <a:prstGeom prst="ellipse">
                  <a:avLst/>
                </a:prstGeom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5F1DCF41-F513-DFFB-1405-C5FEBAC92253}"/>
                  </a:ext>
                </a:extLst>
              </p:cNvPr>
              <p:cNvSpPr/>
              <p:nvPr/>
            </p:nvSpPr>
            <p:spPr>
              <a:xfrm>
                <a:off x="2494625" y="1875129"/>
                <a:ext cx="914400" cy="91440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1" name="Sprechblase: rechteckig mit abgerundeten Ecken 50">
              <a:extLst>
                <a:ext uri="{FF2B5EF4-FFF2-40B4-BE49-F238E27FC236}">
                  <a16:creationId xmlns:a16="http://schemas.microsoft.com/office/drawing/2014/main" id="{4AC59C8E-5586-ED77-489B-EF380CF4863F}"/>
                </a:ext>
              </a:extLst>
            </p:cNvPr>
            <p:cNvSpPr/>
            <p:nvPr/>
          </p:nvSpPr>
          <p:spPr>
            <a:xfrm>
              <a:off x="8198177" y="3283947"/>
              <a:ext cx="1130300" cy="333430"/>
            </a:xfrm>
            <a:prstGeom prst="wedgeRoundRectCallout">
              <a:avLst>
                <a:gd name="adj1" fmla="val 40988"/>
                <a:gd name="adj2" fmla="val 152489"/>
                <a:gd name="adj3" fmla="val 16667"/>
              </a:avLst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de-DE" sz="800"/>
                <a:t>Profit</a:t>
              </a:r>
            </a:p>
          </p:txBody>
        </p:sp>
        <p:pic>
          <p:nvPicPr>
            <p:cNvPr id="53" name="Grafik 52" descr="Geld Silhouette">
              <a:extLst>
                <a:ext uri="{FF2B5EF4-FFF2-40B4-BE49-F238E27FC236}">
                  <a16:creationId xmlns:a16="http://schemas.microsoft.com/office/drawing/2014/main" id="{F4D8603F-743C-0824-3568-4F86EC822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804131" y="4180427"/>
              <a:ext cx="914400" cy="914400"/>
            </a:xfrm>
            <a:prstGeom prst="rect">
              <a:avLst/>
            </a:prstGeom>
          </p:spPr>
        </p:pic>
        <p:pic>
          <p:nvPicPr>
            <p:cNvPr id="54" name="Grafik 53" descr="Geld Silhouette">
              <a:extLst>
                <a:ext uri="{FF2B5EF4-FFF2-40B4-BE49-F238E27FC236}">
                  <a16:creationId xmlns:a16="http://schemas.microsoft.com/office/drawing/2014/main" id="{3037E21C-B336-9478-9EBD-C01298821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flipH="1">
              <a:off x="8215111" y="4180427"/>
              <a:ext cx="914400" cy="914400"/>
            </a:xfrm>
            <a:prstGeom prst="rect">
              <a:avLst/>
            </a:prstGeom>
          </p:spPr>
        </p:pic>
        <p:sp>
          <p:nvSpPr>
            <p:cNvPr id="61" name="Rechteck 60">
              <a:extLst>
                <a:ext uri="{FF2B5EF4-FFF2-40B4-BE49-F238E27FC236}">
                  <a16:creationId xmlns:a16="http://schemas.microsoft.com/office/drawing/2014/main" id="{709C0519-65FA-5CEA-756D-5BC6FF23CC2F}"/>
                </a:ext>
              </a:extLst>
            </p:cNvPr>
            <p:cNvSpPr/>
            <p:nvPr/>
          </p:nvSpPr>
          <p:spPr>
            <a:xfrm>
              <a:off x="8105827" y="3191574"/>
              <a:ext cx="2914651" cy="1867989"/>
            </a:xfrm>
            <a:prstGeom prst="rect">
              <a:avLst/>
            </a:prstGeom>
            <a:noFill/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98B74FF0-4F68-7A1C-EC26-0846E75B6C87}"/>
                </a:ext>
              </a:extLst>
            </p:cNvPr>
            <p:cNvSpPr txBox="1"/>
            <p:nvPr/>
          </p:nvSpPr>
          <p:spPr>
            <a:xfrm>
              <a:off x="10715598" y="4714397"/>
              <a:ext cx="303288" cy="3416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de-DE"/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858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6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B092AB-D9E3-4A00-8FC7-0B876DBB7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de-DE"/>
              <a:t>Bugs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01F547-85E5-458C-9749-B9E6B919B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92702"/>
            <a:ext cx="6099324" cy="4467568"/>
          </a:xfrm>
        </p:spPr>
        <p:txBody>
          <a:bodyPr>
            <a:normAutofit/>
          </a:bodyPr>
          <a:lstStyle/>
          <a:p>
            <a:r>
              <a:rPr lang="de-DE" sz="1800" dirty="0"/>
              <a:t>Ein Bug ist ein (Laufzeit-)Fehler eines Programmes</a:t>
            </a:r>
          </a:p>
          <a:p>
            <a:r>
              <a:rPr lang="de-DE" sz="1800" dirty="0"/>
              <a:t>„Formen“ eines Bugs: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Syntax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Semantisch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Logisch</a:t>
            </a:r>
          </a:p>
          <a:p>
            <a:endParaRPr lang="de-DE" sz="1800" dirty="0"/>
          </a:p>
          <a:p>
            <a:r>
              <a:rPr lang="de-DE" sz="1800" dirty="0"/>
              <a:t>Zeigen sich im „besten Fall“ als: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Ein falsches Ergebnis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Ein Absturz / Exception</a:t>
            </a:r>
          </a:p>
          <a:p>
            <a:pPr lvl="1"/>
            <a:endParaRPr lang="de-DE" sz="1800" dirty="0"/>
          </a:p>
          <a:p>
            <a:r>
              <a:rPr lang="de-DE" sz="1800" dirty="0"/>
              <a:t>Im schlimmsten Fall unentdeckt</a:t>
            </a:r>
          </a:p>
        </p:txBody>
      </p:sp>
      <p:pic>
        <p:nvPicPr>
          <p:cNvPr id="5" name="Grafik 4" descr="Käfer mit einfarbiger Füllung">
            <a:extLst>
              <a:ext uri="{FF2B5EF4-FFF2-40B4-BE49-F238E27FC236}">
                <a16:creationId xmlns:a16="http://schemas.microsoft.com/office/drawing/2014/main" id="{4854B390-0967-47CF-BAAE-5D8706E3C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455" y="2209488"/>
            <a:ext cx="3145536" cy="3145536"/>
          </a:xfrm>
          <a:prstGeom prst="rect">
            <a:avLst/>
          </a:prstGeom>
        </p:spPr>
      </p:pic>
      <p:sp>
        <p:nvSpPr>
          <p:cNvPr id="6" name="Verbotsymbol 5">
            <a:extLst>
              <a:ext uri="{FF2B5EF4-FFF2-40B4-BE49-F238E27FC236}">
                <a16:creationId xmlns:a16="http://schemas.microsoft.com/office/drawing/2014/main" id="{E6EC7C2F-671C-401F-9144-20730CE62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86269" y="2328048"/>
            <a:ext cx="3305907" cy="3145536"/>
          </a:xfrm>
          <a:prstGeom prst="noSmoking">
            <a:avLst>
              <a:gd name="adj" fmla="val 808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037849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309C77-AF8A-4BF8-8DE0-B69DE3BA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Finde den Fehler!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0D0588E-61CD-461A-AE78-E873AA671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4196" y="4819384"/>
            <a:ext cx="8596668" cy="793626"/>
          </a:xfrm>
        </p:spPr>
        <p:txBody>
          <a:bodyPr/>
          <a:lstStyle/>
          <a:p>
            <a:r>
              <a:rPr lang="de-DE" sz="1800"/>
              <a:t>Ergebnis ist 20</a:t>
            </a:r>
          </a:p>
          <a:p>
            <a:r>
              <a:rPr lang="de-DE" sz="1800"/>
              <a:t>Muss aber 27 sein</a:t>
            </a:r>
            <a:endParaRPr lang="en-DE" sz="18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82E5C67-4165-446D-83C2-0AA1E22245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60" y="1401342"/>
            <a:ext cx="4192173" cy="3046988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int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summeVonBis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int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b) {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if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(a &gt; b) {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temp = a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 = b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 = temp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summe =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0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for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run = a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run &lt; b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run++) {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  summe += run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return 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summe</a:t>
            </a: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kumimoji="0" lang="en-DE" altLang="en-DE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434BCF9B-DB71-4D90-AA30-4C3BFADCF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5452" y="1401342"/>
            <a:ext cx="6442917" cy="255454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static void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main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(String[] args) {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Gib die Summe der Zahlen von a bis b (inklusive a,b) aus!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// es können auch negative Zahlen eingegeben werden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int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 =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2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int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 =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6897BB"/>
                </a:solidFill>
                <a:effectLst/>
                <a:latin typeface="JetBrains Mono"/>
              </a:rPr>
              <a:t>7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int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c = </a:t>
            </a:r>
            <a:r>
              <a:rPr kumimoji="0" lang="en-DE" altLang="en-DE" sz="1600" b="0" i="1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summeVonBis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(a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b)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System.</a:t>
            </a:r>
            <a:r>
              <a:rPr kumimoji="0" lang="en-DE" altLang="en-DE" sz="1600" b="0" i="1" u="none" strike="noStrike" cap="none" normalizeH="0" baseline="0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out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.print(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"Summe der Zahlen a bis b =</a:t>
            </a:r>
            <a:r>
              <a:rPr kumimoji="0" lang="de-DE" altLang="en-DE" sz="16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+ c)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r>
              <a:rPr kumimoji="0" lang="de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// </a:t>
            </a:r>
            <a:r>
              <a:rPr kumimoji="0" lang="de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Hier ist es 20  </a:t>
            </a: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808080"/>
                </a:solidFill>
                <a:effectLst/>
                <a:latin typeface="JetBrains Mono"/>
              </a:rPr>
              <a:t> </a:t>
            </a:r>
            <a:b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6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}</a:t>
            </a:r>
            <a:endParaRPr kumimoji="0" lang="en-DE" altLang="en-DE" sz="3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23523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D8A5F2-29EB-4954-9F5F-8764FC736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System.out.print()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AF13EF-535D-465D-9319-3CD2C2846C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152894"/>
            <a:ext cx="10580687" cy="4360861"/>
          </a:xfrm>
        </p:spPr>
        <p:txBody>
          <a:bodyPr/>
          <a:lstStyle/>
          <a:p>
            <a:r>
              <a:rPr lang="de-DE" sz="1800" dirty="0"/>
              <a:t>Eingrenzen eines Fehlers durch setzen von </a:t>
            </a:r>
            <a:r>
              <a:rPr lang="de-DE" sz="1800" i="1" dirty="0" err="1"/>
              <a:t>System.out.print</a:t>
            </a:r>
            <a:r>
              <a:rPr lang="de-DE" sz="1800" i="1" dirty="0"/>
              <a:t>(variable)</a:t>
            </a:r>
            <a:r>
              <a:rPr lang="de-DE" sz="1800" dirty="0"/>
              <a:t> an einer Stelle im Code </a:t>
            </a:r>
          </a:p>
        </p:txBody>
      </p:sp>
      <p:pic>
        <p:nvPicPr>
          <p:cNvPr id="4" name="Grafik 3" descr="Ein Bild, das Text enthält.&#10;&#10;Automatisch generierte Beschreibung">
            <a:extLst>
              <a:ext uri="{FF2B5EF4-FFF2-40B4-BE49-F238E27FC236}">
                <a16:creationId xmlns:a16="http://schemas.microsoft.com/office/drawing/2014/main" id="{ED55D62E-45DC-EE26-9CFB-E715E725F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818" y="2957618"/>
            <a:ext cx="5878007" cy="3138674"/>
          </a:xfrm>
          <a:prstGeom prst="rect">
            <a:avLst/>
          </a:prstGeom>
        </p:spPr>
      </p:pic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5402CEF4-B669-BD65-0458-82B46032B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505" y="3295339"/>
            <a:ext cx="3218849" cy="2675911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31CDED63-C824-ACF7-8A8E-2711608321D4}"/>
              </a:ext>
            </a:extLst>
          </p:cNvPr>
          <p:cNvCxnSpPr>
            <a:cxnSpLocks/>
          </p:cNvCxnSpPr>
          <p:nvPr/>
        </p:nvCxnSpPr>
        <p:spPr>
          <a:xfrm flipH="1">
            <a:off x="2232215" y="4961964"/>
            <a:ext cx="1055594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32941B2-97F9-6368-91DA-900A41382733}"/>
              </a:ext>
            </a:extLst>
          </p:cNvPr>
          <p:cNvCxnSpPr/>
          <p:nvPr/>
        </p:nvCxnSpPr>
        <p:spPr>
          <a:xfrm>
            <a:off x="6777728" y="4844226"/>
            <a:ext cx="3741362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58AB1F29-1794-73F7-6C9C-FCDCCDBA1138}"/>
              </a:ext>
            </a:extLst>
          </p:cNvPr>
          <p:cNvCxnSpPr>
            <a:cxnSpLocks/>
          </p:cNvCxnSpPr>
          <p:nvPr/>
        </p:nvCxnSpPr>
        <p:spPr>
          <a:xfrm>
            <a:off x="6777728" y="5289792"/>
            <a:ext cx="405546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A19C2950-0750-9286-6B2A-B1CCE7CADB96}"/>
              </a:ext>
            </a:extLst>
          </p:cNvPr>
          <p:cNvCxnSpPr>
            <a:cxnSpLocks/>
          </p:cNvCxnSpPr>
          <p:nvPr/>
        </p:nvCxnSpPr>
        <p:spPr>
          <a:xfrm>
            <a:off x="6371716" y="5777240"/>
            <a:ext cx="559924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B3423E18-D6FF-6AF5-56E2-1E6447B264BC}"/>
              </a:ext>
            </a:extLst>
          </p:cNvPr>
          <p:cNvSpPr txBox="1">
            <a:spLocks/>
          </p:cNvSpPr>
          <p:nvPr/>
        </p:nvSpPr>
        <p:spPr>
          <a:xfrm>
            <a:off x="873771" y="1482439"/>
            <a:ext cx="10580687" cy="1812899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de-DE" sz="1800" b="1" dirty="0"/>
              <a:t>Probleme:</a:t>
            </a:r>
            <a:endParaRPr lang="de-DE" sz="18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Nicht unterbrechbar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Muss weitere Informationen mitliefern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Bedingungen/Filterung muss programmiert werden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 dirty="0"/>
              <a:t>Keine Veränderung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14763596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287BB2-94BF-4700-BCD1-646D8D446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Logging ist nicht viel besser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4E169-C0FE-419F-898A-AC0CEDF22D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337982"/>
            <a:ext cx="10580687" cy="4504017"/>
          </a:xfrm>
        </p:spPr>
        <p:txBody>
          <a:bodyPr/>
          <a:lstStyle/>
          <a:p>
            <a:r>
              <a:rPr lang="de-DE" sz="1800"/>
              <a:t>Erzeugen eines Logger-Objektes</a:t>
            </a:r>
          </a:p>
          <a:p>
            <a:r>
              <a:rPr lang="de-DE" sz="1800"/>
              <a:t>Kategorisierung durch Log-Level</a:t>
            </a:r>
          </a:p>
          <a:p>
            <a:r>
              <a:rPr lang="de-DE" sz="1800"/>
              <a:t>Probleme: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/>
              <a:t>Nicht unterbrechbar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de-DE" sz="1800"/>
              <a:t>Keine Veränderung</a:t>
            </a:r>
            <a:endParaRPr lang="en-DE" sz="1800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BC7D1819-E88D-80D5-8682-B28818A63C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054" y="2267268"/>
            <a:ext cx="6574272" cy="3762590"/>
          </a:xfrm>
          <a:prstGeom prst="rect">
            <a:avLst/>
          </a:prstGeo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DBF3C318-06CE-9390-1DF3-B6C6795511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74" y="3429000"/>
            <a:ext cx="5086407" cy="260085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58D06CF3-89F6-6EDE-B82E-BB31E6FC428C}"/>
              </a:ext>
            </a:extLst>
          </p:cNvPr>
          <p:cNvSpPr txBox="1">
            <a:spLocks/>
          </p:cNvSpPr>
          <p:nvPr/>
        </p:nvSpPr>
        <p:spPr>
          <a:xfrm>
            <a:off x="5165350" y="346075"/>
            <a:ext cx="5398240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269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/>
              <a:t>- Aber eine Unterstützung</a:t>
            </a:r>
            <a:endParaRPr lang="en-DE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45A89604-7D89-E601-E4F1-E500446096C4}"/>
              </a:ext>
            </a:extLst>
          </p:cNvPr>
          <p:cNvCxnSpPr>
            <a:cxnSpLocks/>
          </p:cNvCxnSpPr>
          <p:nvPr/>
        </p:nvCxnSpPr>
        <p:spPr>
          <a:xfrm>
            <a:off x="5549221" y="2539612"/>
            <a:ext cx="633797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330C76EF-4C4F-A902-1ED9-656CB64FA15C}"/>
              </a:ext>
            </a:extLst>
          </p:cNvPr>
          <p:cNvCxnSpPr>
            <a:cxnSpLocks/>
          </p:cNvCxnSpPr>
          <p:nvPr/>
        </p:nvCxnSpPr>
        <p:spPr>
          <a:xfrm>
            <a:off x="6337978" y="4877963"/>
            <a:ext cx="31759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18186233-3A2A-B64B-33BD-8B8AAF1930E5}"/>
              </a:ext>
            </a:extLst>
          </p:cNvPr>
          <p:cNvCxnSpPr>
            <a:cxnSpLocks/>
          </p:cNvCxnSpPr>
          <p:nvPr/>
        </p:nvCxnSpPr>
        <p:spPr>
          <a:xfrm>
            <a:off x="6337978" y="5310732"/>
            <a:ext cx="352497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09D9928F-ADF0-6F19-1492-4403D390F5C5}"/>
              </a:ext>
            </a:extLst>
          </p:cNvPr>
          <p:cNvCxnSpPr>
            <a:cxnSpLocks/>
          </p:cNvCxnSpPr>
          <p:nvPr/>
        </p:nvCxnSpPr>
        <p:spPr>
          <a:xfrm>
            <a:off x="5954070" y="5798954"/>
            <a:ext cx="500477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538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9CEEA-19C5-4C24-82BD-38F58FBFC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 Trace - </a:t>
            </a:r>
            <a:r>
              <a:rPr lang="de-DE" sz="2400"/>
              <a:t>Den Ort des Fehlers eingrenzen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37B441E-4FEE-4B46-8717-E6698021A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324838"/>
            <a:ext cx="10580687" cy="4360861"/>
          </a:xfrm>
        </p:spPr>
        <p:txBody>
          <a:bodyPr/>
          <a:lstStyle/>
          <a:p>
            <a:r>
              <a:rPr lang="de-DE" sz="1800" dirty="0"/>
              <a:t>Informiert, dass eine nicht gefangene Exception auftrat -&gt; Programm bricht ab</a:t>
            </a:r>
          </a:p>
          <a:p>
            <a:r>
              <a:rPr lang="de-DE" sz="1800" dirty="0"/>
              <a:t>Enthält: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Threadname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Typ der Exception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Fehlermeldung/Information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Trace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98A8E65C-ECC5-AD40-3668-4246D746FB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9000"/>
            <a:ext cx="12192000" cy="2767098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2FD255E-2874-96AF-ACAF-4844E9ED5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90320" y="3429000"/>
            <a:ext cx="1249680" cy="238760"/>
          </a:xfrm>
          <a:prstGeom prst="rect">
            <a:avLst/>
          </a:prstGeom>
          <a:solidFill>
            <a:srgbClr val="FFFF00">
              <a:alpha val="30980"/>
            </a:srgbClr>
          </a:solidFill>
          <a:ln>
            <a:solidFill>
              <a:srgbClr val="FFFF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F7C80DF-50ED-FF9A-B050-2519047F5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59968" y="3439160"/>
            <a:ext cx="4760912" cy="238760"/>
          </a:xfrm>
          <a:prstGeom prst="rect">
            <a:avLst/>
          </a:prstGeom>
          <a:solidFill>
            <a:srgbClr val="00B050">
              <a:alpha val="3098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EAE245B-6006-0A01-F921-5240AEFA9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5568" y="3429000"/>
            <a:ext cx="3228022" cy="248920"/>
          </a:xfrm>
          <a:prstGeom prst="rect">
            <a:avLst/>
          </a:prstGeom>
          <a:solidFill>
            <a:srgbClr val="0070C0">
              <a:alpha val="3098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73BFEB9-BF13-05C8-9F82-719471F6E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733800"/>
            <a:ext cx="7183120" cy="2332672"/>
          </a:xfrm>
          <a:prstGeom prst="rect">
            <a:avLst/>
          </a:prstGeom>
          <a:solidFill>
            <a:srgbClr val="FF0000">
              <a:alpha val="3098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F847506-6C8D-1B05-A42F-7E481001A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7120" y="2004986"/>
            <a:ext cx="1548448" cy="304923"/>
          </a:xfrm>
          <a:prstGeom prst="rect">
            <a:avLst/>
          </a:prstGeom>
          <a:solidFill>
            <a:srgbClr val="FFFF00">
              <a:alpha val="30980"/>
            </a:srgbClr>
          </a:solidFill>
          <a:ln>
            <a:solidFill>
              <a:srgbClr val="E7E2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43433B2-8FE7-9338-DE7B-B4EDF7060D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7119" y="2406625"/>
            <a:ext cx="2156265" cy="246700"/>
          </a:xfrm>
          <a:prstGeom prst="rect">
            <a:avLst/>
          </a:prstGeom>
          <a:solidFill>
            <a:srgbClr val="0070C0">
              <a:alpha val="30980"/>
            </a:srgbClr>
          </a:solidFill>
          <a:ln>
            <a:solidFill>
              <a:srgbClr val="00B0F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8A4AAC5-BC6E-ED44-AB79-5FA58ABB3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7120" y="2731885"/>
            <a:ext cx="3328572" cy="295476"/>
          </a:xfrm>
          <a:prstGeom prst="rect">
            <a:avLst/>
          </a:prstGeom>
          <a:solidFill>
            <a:srgbClr val="00B050">
              <a:alpha val="30980"/>
            </a:srgbClr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BA0AFD9-05CF-B55D-C8DA-320315710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87119" y="3075300"/>
            <a:ext cx="719910" cy="268921"/>
          </a:xfrm>
          <a:prstGeom prst="rect">
            <a:avLst/>
          </a:prstGeom>
          <a:solidFill>
            <a:srgbClr val="FF0000">
              <a:alpha val="3098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1021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EBF65-5751-12D8-9078-82B446966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 Trace – Beispiel 1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9DEB88-1E5D-E9EB-D396-296A5C996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/>
              <a:t>Wo wurde die Exception geworfen?</a:t>
            </a:r>
          </a:p>
          <a:p>
            <a:r>
              <a:rPr lang="de-DE" sz="1800"/>
              <a:t>In Zeile 31</a:t>
            </a:r>
            <a:endParaRPr lang="en-DE" sz="180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65645A0-D5C0-384A-EC4D-448CEF87F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30" y="2852220"/>
            <a:ext cx="11912140" cy="115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004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0F1F66-C72F-8E08-C617-643DE8753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 Trace – Beispiel 2</a:t>
            </a:r>
            <a:endParaRPr lang="en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901B0EF-34D2-3DEF-E714-39AFF9130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55F6B37-9462-8E7B-9406-70DB6A577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70" y="2430838"/>
            <a:ext cx="12060259" cy="199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6465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59620B-7B23-B2A4-CD90-01241C92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 Trace – Beispiel 3</a:t>
            </a:r>
            <a:endParaRPr lang="en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FB714DE-3BE5-96C9-69D5-3DDE1725D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8" y="2463613"/>
            <a:ext cx="12039943" cy="2395909"/>
          </a:xfrm>
          <a:prstGeom prst="rect">
            <a:avLst/>
          </a:prstGeom>
        </p:spPr>
      </p:pic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6CC72D9-FEBE-EED7-8B3C-BD4074BFF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53958526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59620B-7B23-B2A4-CD90-01241C929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Stack Trace – Beispiel 4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2C0C38-8B3A-AF68-1683-83B91BC18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/>
              <a:t>Wo wurde eine Exception geworfen?</a:t>
            </a:r>
          </a:p>
          <a:p>
            <a:r>
              <a:rPr lang="de-DE" sz="1800"/>
              <a:t>In Zeile 51 und 143</a:t>
            </a:r>
            <a:endParaRPr lang="en-DE" sz="180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7E176C-BE21-0EEE-646B-A1B2471F9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8" y="2617056"/>
            <a:ext cx="12033783" cy="2836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3344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FBF993-D780-4DB6-9689-FE483A16F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Debug-Modus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B4B5548-8B39-4D11-8826-8856898ED0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988" y="1467690"/>
            <a:ext cx="10580687" cy="43608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dirty="0"/>
              <a:t>Startet Java-Anwendung innerhalb einer </a:t>
            </a:r>
            <a:r>
              <a:rPr lang="de-DE" sz="1800" dirty="0" err="1"/>
              <a:t>Debug</a:t>
            </a:r>
            <a:r>
              <a:rPr lang="de-DE" sz="1800" dirty="0"/>
              <a:t>-Umgebung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Debugger kontrolliert/ überwacht die Anwendung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Liefert detaillierte Informationen in speziellen Fenstern 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Steuerung des Ablaufes </a:t>
            </a:r>
          </a:p>
          <a:p>
            <a:pPr>
              <a:lnSpc>
                <a:spcPct val="150000"/>
              </a:lnSpc>
            </a:pPr>
            <a:endParaRPr lang="de-DE" sz="1800" dirty="0"/>
          </a:p>
          <a:p>
            <a:pPr>
              <a:lnSpc>
                <a:spcPct val="150000"/>
              </a:lnSpc>
            </a:pPr>
            <a:r>
              <a:rPr lang="de-DE" sz="1800" dirty="0"/>
              <a:t>Start mit extra Knopf</a:t>
            </a:r>
            <a:endParaRPr lang="en-DE" sz="1800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834B826-DC75-C3F1-18C5-24D444A20090}"/>
              </a:ext>
            </a:extLst>
          </p:cNvPr>
          <p:cNvGrpSpPr/>
          <p:nvPr/>
        </p:nvGrpSpPr>
        <p:grpSpPr>
          <a:xfrm>
            <a:off x="874712" y="4490818"/>
            <a:ext cx="3563125" cy="791805"/>
            <a:chOff x="874712" y="4490818"/>
            <a:chExt cx="3563125" cy="791805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CCC271D2-E1EE-4A41-9755-B9E7D6E22C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4712" y="4490818"/>
              <a:ext cx="3563125" cy="791805"/>
            </a:xfrm>
            <a:prstGeom prst="rect">
              <a:avLst/>
            </a:prstGeom>
          </p:spPr>
        </p:pic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BD239516-E09B-4A7C-8DAC-20E31026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438356" y="4565535"/>
              <a:ext cx="566382" cy="642369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</p:grpSp>
      <p:sp>
        <p:nvSpPr>
          <p:cNvPr id="8" name="Rechteck 7">
            <a:extLst>
              <a:ext uri="{FF2B5EF4-FFF2-40B4-BE49-F238E27FC236}">
                <a16:creationId xmlns:a16="http://schemas.microsoft.com/office/drawing/2014/main" id="{6D0E9434-8196-8398-974B-FDED5CC1666E}"/>
              </a:ext>
            </a:extLst>
          </p:cNvPr>
          <p:cNvSpPr/>
          <p:nvPr/>
        </p:nvSpPr>
        <p:spPr>
          <a:xfrm>
            <a:off x="8269356" y="775252"/>
            <a:ext cx="3319670" cy="492035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de-DE" dirty="0"/>
              <a:t>Computer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0EEBDBF-0336-51A3-EDC3-D9DB89C6C7BC}"/>
              </a:ext>
            </a:extLst>
          </p:cNvPr>
          <p:cNvSpPr/>
          <p:nvPr/>
        </p:nvSpPr>
        <p:spPr>
          <a:xfrm>
            <a:off x="8432709" y="2627158"/>
            <a:ext cx="2778630" cy="2193319"/>
          </a:xfrm>
          <a:prstGeom prst="roundRect">
            <a:avLst/>
          </a:prstGeom>
          <a:solidFill>
            <a:schemeClr val="accent1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de-DE" dirty="0"/>
              <a:t>Debugger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1771033-ECDA-FBF0-7FE1-C31575532001}"/>
              </a:ext>
            </a:extLst>
          </p:cNvPr>
          <p:cNvSpPr/>
          <p:nvPr/>
        </p:nvSpPr>
        <p:spPr>
          <a:xfrm>
            <a:off x="8758865" y="3648120"/>
            <a:ext cx="1272209" cy="7354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Java-Programm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A0B70767-0A8E-DC45-FAE7-C0D660BCBB2E}"/>
              </a:ext>
            </a:extLst>
          </p:cNvPr>
          <p:cNvSpPr/>
          <p:nvPr/>
        </p:nvSpPr>
        <p:spPr>
          <a:xfrm>
            <a:off x="8483649" y="1301218"/>
            <a:ext cx="2117035" cy="397565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Speicher</a:t>
            </a:r>
          </a:p>
        </p:txBody>
      </p:sp>
      <p:sp>
        <p:nvSpPr>
          <p:cNvPr id="11" name="Rechteck: eine Ecke abgeschnitten 10">
            <a:extLst>
              <a:ext uri="{FF2B5EF4-FFF2-40B4-BE49-F238E27FC236}">
                <a16:creationId xmlns:a16="http://schemas.microsoft.com/office/drawing/2014/main" id="{8854B5E5-D6FF-5EF9-C03F-0F6DFB17D46A}"/>
              </a:ext>
            </a:extLst>
          </p:cNvPr>
          <p:cNvSpPr/>
          <p:nvPr/>
        </p:nvSpPr>
        <p:spPr>
          <a:xfrm>
            <a:off x="5848578" y="3648120"/>
            <a:ext cx="2117034" cy="692184"/>
          </a:xfrm>
          <a:prstGeom prst="snip1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Eingabe/Ausgabe</a:t>
            </a:r>
          </a:p>
        </p:txBody>
      </p:sp>
      <p:sp>
        <p:nvSpPr>
          <p:cNvPr id="14" name="Pfeil: nach oben und unten 13">
            <a:extLst>
              <a:ext uri="{FF2B5EF4-FFF2-40B4-BE49-F238E27FC236}">
                <a16:creationId xmlns:a16="http://schemas.microsoft.com/office/drawing/2014/main" id="{33952480-4FBB-1C9A-0CFD-36E689022650}"/>
              </a:ext>
            </a:extLst>
          </p:cNvPr>
          <p:cNvSpPr/>
          <p:nvPr/>
        </p:nvSpPr>
        <p:spPr>
          <a:xfrm>
            <a:off x="8729996" y="1667638"/>
            <a:ext cx="423943" cy="1980482"/>
          </a:xfrm>
          <a:prstGeom prst="up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: nach oben und unten 14">
            <a:extLst>
              <a:ext uri="{FF2B5EF4-FFF2-40B4-BE49-F238E27FC236}">
                <a16:creationId xmlns:a16="http://schemas.microsoft.com/office/drawing/2014/main" id="{929354F7-823B-6926-121A-B0BF0C2B99F4}"/>
              </a:ext>
            </a:extLst>
          </p:cNvPr>
          <p:cNvSpPr/>
          <p:nvPr/>
        </p:nvSpPr>
        <p:spPr>
          <a:xfrm>
            <a:off x="9684482" y="2291035"/>
            <a:ext cx="194075" cy="1357085"/>
          </a:xfrm>
          <a:prstGeom prst="upDown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E082227C-D2CB-B454-4467-5F33CD681309}"/>
              </a:ext>
            </a:extLst>
          </p:cNvPr>
          <p:cNvSpPr/>
          <p:nvPr/>
        </p:nvSpPr>
        <p:spPr>
          <a:xfrm>
            <a:off x="9471991" y="1812006"/>
            <a:ext cx="914400" cy="479029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CPU</a:t>
            </a:r>
          </a:p>
        </p:txBody>
      </p:sp>
      <p:sp>
        <p:nvSpPr>
          <p:cNvPr id="17" name="Pfeil: nach links und rechts 16">
            <a:extLst>
              <a:ext uri="{FF2B5EF4-FFF2-40B4-BE49-F238E27FC236}">
                <a16:creationId xmlns:a16="http://schemas.microsoft.com/office/drawing/2014/main" id="{13862C84-F5B8-0536-66E9-1A2B25F7896D}"/>
              </a:ext>
            </a:extLst>
          </p:cNvPr>
          <p:cNvSpPr/>
          <p:nvPr/>
        </p:nvSpPr>
        <p:spPr>
          <a:xfrm>
            <a:off x="7983285" y="3848068"/>
            <a:ext cx="775580" cy="277160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555B2F74-62FE-0017-76AC-63BD34B4ED7F}"/>
              </a:ext>
            </a:extLst>
          </p:cNvPr>
          <p:cNvSpPr/>
          <p:nvPr/>
        </p:nvSpPr>
        <p:spPr>
          <a:xfrm>
            <a:off x="10164006" y="3295814"/>
            <a:ext cx="914400" cy="393827"/>
          </a:xfrm>
          <a:prstGeom prst="roundRect">
            <a:avLst/>
          </a:prstGeom>
          <a:solidFill>
            <a:srgbClr val="C7A1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CPU</a:t>
            </a:r>
          </a:p>
        </p:txBody>
      </p:sp>
      <p:sp>
        <p:nvSpPr>
          <p:cNvPr id="20" name="Pfeil: nach oben und unten 19">
            <a:extLst>
              <a:ext uri="{FF2B5EF4-FFF2-40B4-BE49-F238E27FC236}">
                <a16:creationId xmlns:a16="http://schemas.microsoft.com/office/drawing/2014/main" id="{B38CAC60-2913-3B81-9B50-56A1892EF0EA}"/>
              </a:ext>
            </a:extLst>
          </p:cNvPr>
          <p:cNvSpPr/>
          <p:nvPr/>
        </p:nvSpPr>
        <p:spPr>
          <a:xfrm>
            <a:off x="8882396" y="3035412"/>
            <a:ext cx="423943" cy="612708"/>
          </a:xfrm>
          <a:prstGeom prst="upDownArrow">
            <a:avLst/>
          </a:prstGeom>
          <a:solidFill>
            <a:srgbClr val="2CF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feil: nach links und oben 20">
            <a:extLst>
              <a:ext uri="{FF2B5EF4-FFF2-40B4-BE49-F238E27FC236}">
                <a16:creationId xmlns:a16="http://schemas.microsoft.com/office/drawing/2014/main" id="{48F2585E-F9E2-E704-0DD3-66F8C1CC32A9}"/>
              </a:ext>
            </a:extLst>
          </p:cNvPr>
          <p:cNvSpPr/>
          <p:nvPr/>
        </p:nvSpPr>
        <p:spPr>
          <a:xfrm>
            <a:off x="10028582" y="3704068"/>
            <a:ext cx="775580" cy="421160"/>
          </a:xfrm>
          <a:prstGeom prst="leftUpArrow">
            <a:avLst/>
          </a:prstGeom>
          <a:solidFill>
            <a:srgbClr val="2CF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Pfeil: nach oben und unten 21">
            <a:extLst>
              <a:ext uri="{FF2B5EF4-FFF2-40B4-BE49-F238E27FC236}">
                <a16:creationId xmlns:a16="http://schemas.microsoft.com/office/drawing/2014/main" id="{7B43DF82-38B9-2A1A-16D7-EEE957773286}"/>
              </a:ext>
            </a:extLst>
          </p:cNvPr>
          <p:cNvSpPr/>
          <p:nvPr/>
        </p:nvSpPr>
        <p:spPr>
          <a:xfrm>
            <a:off x="9023203" y="1698783"/>
            <a:ext cx="423943" cy="1096749"/>
          </a:xfrm>
          <a:prstGeom prst="upDownArrow">
            <a:avLst/>
          </a:prstGeom>
          <a:solidFill>
            <a:srgbClr val="2CF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Pfeil: nach oben und unten 22">
            <a:extLst>
              <a:ext uri="{FF2B5EF4-FFF2-40B4-BE49-F238E27FC236}">
                <a16:creationId xmlns:a16="http://schemas.microsoft.com/office/drawing/2014/main" id="{9DFAE23A-8051-99C9-C163-69FC25597461}"/>
              </a:ext>
            </a:extLst>
          </p:cNvPr>
          <p:cNvSpPr/>
          <p:nvPr/>
        </p:nvSpPr>
        <p:spPr>
          <a:xfrm>
            <a:off x="10105172" y="2346983"/>
            <a:ext cx="423943" cy="948831"/>
          </a:xfrm>
          <a:prstGeom prst="upDownArrow">
            <a:avLst/>
          </a:prstGeom>
          <a:solidFill>
            <a:srgbClr val="2CF4E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80D145C3-F36C-216E-B2A4-3D3163EE5201}"/>
              </a:ext>
            </a:extLst>
          </p:cNvPr>
          <p:cNvSpPr/>
          <p:nvPr/>
        </p:nvSpPr>
        <p:spPr>
          <a:xfrm>
            <a:off x="8808855" y="2770795"/>
            <a:ext cx="1272209" cy="264617"/>
          </a:xfrm>
          <a:prstGeom prst="roundRect">
            <a:avLst/>
          </a:prstGeom>
          <a:solidFill>
            <a:srgbClr val="C7A1E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Speicher</a:t>
            </a:r>
          </a:p>
        </p:txBody>
      </p:sp>
      <p:sp>
        <p:nvSpPr>
          <p:cNvPr id="24" name="Rechteck: diagonal liegende Ecken abgeschnitten 23">
            <a:extLst>
              <a:ext uri="{FF2B5EF4-FFF2-40B4-BE49-F238E27FC236}">
                <a16:creationId xmlns:a16="http://schemas.microsoft.com/office/drawing/2014/main" id="{A2F82C2C-EDD4-0AA9-7C5E-91152BD0CB1E}"/>
              </a:ext>
            </a:extLst>
          </p:cNvPr>
          <p:cNvSpPr/>
          <p:nvPr/>
        </p:nvSpPr>
        <p:spPr>
          <a:xfrm>
            <a:off x="9373527" y="4697657"/>
            <a:ext cx="1887232" cy="454784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Steuerung</a:t>
            </a:r>
          </a:p>
        </p:txBody>
      </p:sp>
    </p:spTree>
    <p:extLst>
      <p:ext uri="{BB962C8B-B14F-4D97-AF65-F5344CB8AC3E}">
        <p14:creationId xmlns:p14="http://schemas.microsoft.com/office/powerpoint/2010/main" val="37221035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4" grpId="0" animBg="1"/>
      <p:bldP spid="15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18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8B303B-7E13-4DA2-B058-F363B5B96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Elemente eines Debuggers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902292F-2E07-43C6-87EB-402717585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2">
              <a:lnSpc>
                <a:spcPct val="200000"/>
              </a:lnSpc>
            </a:pPr>
            <a:r>
              <a:rPr lang="de-DE" b="1" dirty="0"/>
              <a:t>Breakpoints /Liste aller Breakpoints</a:t>
            </a:r>
          </a:p>
          <a:p>
            <a:pPr lvl="2">
              <a:lnSpc>
                <a:spcPct val="200000"/>
              </a:lnSpc>
            </a:pPr>
            <a:r>
              <a:rPr lang="de-DE" b="1" dirty="0"/>
              <a:t>Liste an Variablen im Frame</a:t>
            </a:r>
          </a:p>
          <a:p>
            <a:pPr lvl="2">
              <a:lnSpc>
                <a:spcPct val="200000"/>
              </a:lnSpc>
            </a:pPr>
            <a:r>
              <a:rPr lang="de-DE" b="1" dirty="0"/>
              <a:t>Fenster mit markierter Zeile, an der das Programm aktuell ist</a:t>
            </a:r>
          </a:p>
          <a:p>
            <a:pPr lvl="2">
              <a:lnSpc>
                <a:spcPct val="200000"/>
              </a:lnSpc>
            </a:pPr>
            <a:r>
              <a:rPr lang="de-DE" b="1" dirty="0"/>
              <a:t>Ablaufkontrolle</a:t>
            </a:r>
          </a:p>
          <a:p>
            <a:pPr lvl="2">
              <a:lnSpc>
                <a:spcPct val="200000"/>
              </a:lnSpc>
            </a:pPr>
            <a:r>
              <a:rPr lang="de-DE" b="1" dirty="0"/>
              <a:t>Frame Stack</a:t>
            </a:r>
          </a:p>
          <a:p>
            <a:pPr lvl="2">
              <a:lnSpc>
                <a:spcPct val="200000"/>
              </a:lnSpc>
            </a:pPr>
            <a:r>
              <a:rPr lang="de-DE" b="1" dirty="0"/>
              <a:t>Weitere Fenster je nach IDE/Anwendung</a:t>
            </a:r>
          </a:p>
        </p:txBody>
      </p:sp>
      <p:pic>
        <p:nvPicPr>
          <p:cNvPr id="5" name="Grafik 4" descr="Ein Bild, das Text, Screenshot, Monitor enthält.&#10;&#10;Automatisch generierte Beschreibung">
            <a:extLst>
              <a:ext uri="{FF2B5EF4-FFF2-40B4-BE49-F238E27FC236}">
                <a16:creationId xmlns:a16="http://schemas.microsoft.com/office/drawing/2014/main" id="{10D4C1B8-7012-1DA6-3AD8-07DCBD55E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3287" y="2861905"/>
            <a:ext cx="5183277" cy="327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84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6FAC9A-9563-99A7-AFAE-6465FB5CB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Grafik 6" descr="Ein Bild, das Text, Screenshot, Monitor, schwarz enthält.&#10;&#10;Automatisch generierte Beschreibung">
            <a:extLst>
              <a:ext uri="{FF2B5EF4-FFF2-40B4-BE49-F238E27FC236}">
                <a16:creationId xmlns:a16="http://schemas.microsoft.com/office/drawing/2014/main" id="{1F721DC7-B759-D917-D164-AF63447983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703" y="0"/>
            <a:ext cx="10841983" cy="6858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7A3D43B-54FF-F59E-B63F-54DA407CF9C7}"/>
              </a:ext>
            </a:extLst>
          </p:cNvPr>
          <p:cNvSpPr/>
          <p:nvPr/>
        </p:nvSpPr>
        <p:spPr>
          <a:xfrm>
            <a:off x="2904978" y="858129"/>
            <a:ext cx="8422498" cy="3207434"/>
          </a:xfrm>
          <a:prstGeom prst="rect">
            <a:avLst/>
          </a:prstGeom>
          <a:solidFill>
            <a:srgbClr val="0070C0">
              <a:alpha val="21961"/>
            </a:srgb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1CD2C8-7F28-400B-412E-32B3336B8963}"/>
              </a:ext>
            </a:extLst>
          </p:cNvPr>
          <p:cNvSpPr/>
          <p:nvPr/>
        </p:nvSpPr>
        <p:spPr>
          <a:xfrm>
            <a:off x="786938" y="858129"/>
            <a:ext cx="2092222" cy="3207434"/>
          </a:xfrm>
          <a:prstGeom prst="rect">
            <a:avLst/>
          </a:prstGeom>
          <a:solidFill>
            <a:srgbClr val="3C1A56">
              <a:alpha val="60000"/>
            </a:srgbClr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0C25506-31ED-655F-D3C4-D2119E871EBC}"/>
              </a:ext>
            </a:extLst>
          </p:cNvPr>
          <p:cNvSpPr/>
          <p:nvPr/>
        </p:nvSpPr>
        <p:spPr>
          <a:xfrm>
            <a:off x="2128058" y="4267200"/>
            <a:ext cx="1740131" cy="227215"/>
          </a:xfrm>
          <a:prstGeom prst="rect">
            <a:avLst/>
          </a:prstGeom>
          <a:solidFill>
            <a:srgbClr val="FFFF00">
              <a:alpha val="21961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D7C2B17-03AE-2FF3-548A-AB143B9780CF}"/>
              </a:ext>
            </a:extLst>
          </p:cNvPr>
          <p:cNvSpPr/>
          <p:nvPr/>
        </p:nvSpPr>
        <p:spPr>
          <a:xfrm>
            <a:off x="3682538" y="4494415"/>
            <a:ext cx="4779818" cy="2039389"/>
          </a:xfrm>
          <a:prstGeom prst="rect">
            <a:avLst/>
          </a:prstGeom>
          <a:solidFill>
            <a:srgbClr val="00B050">
              <a:alpha val="21961"/>
            </a:srgbClr>
          </a:solidFill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09B7DDD7-B02E-AF0C-9947-D14073AB1D60}"/>
              </a:ext>
            </a:extLst>
          </p:cNvPr>
          <p:cNvSpPr/>
          <p:nvPr/>
        </p:nvSpPr>
        <p:spPr>
          <a:xfrm>
            <a:off x="786938" y="4249189"/>
            <a:ext cx="216131" cy="1868978"/>
          </a:xfrm>
          <a:prstGeom prst="rect">
            <a:avLst/>
          </a:prstGeom>
          <a:solidFill>
            <a:srgbClr val="FFFF00">
              <a:alpha val="21961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330528C4-6CAA-CF8F-85AD-F0261FB767A3}"/>
              </a:ext>
            </a:extLst>
          </p:cNvPr>
          <p:cNvSpPr/>
          <p:nvPr/>
        </p:nvSpPr>
        <p:spPr>
          <a:xfrm>
            <a:off x="1003069" y="4505498"/>
            <a:ext cx="2679469" cy="2039389"/>
          </a:xfrm>
          <a:prstGeom prst="rect">
            <a:avLst/>
          </a:prstGeom>
          <a:solidFill>
            <a:srgbClr val="FF0000">
              <a:alpha val="21961"/>
            </a:srgb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8EA07C1-A41B-DF7C-2D7C-2A10BE927D50}"/>
              </a:ext>
            </a:extLst>
          </p:cNvPr>
          <p:cNvSpPr/>
          <p:nvPr/>
        </p:nvSpPr>
        <p:spPr>
          <a:xfrm>
            <a:off x="8462357" y="4505498"/>
            <a:ext cx="2865120" cy="2039389"/>
          </a:xfrm>
          <a:prstGeom prst="rect">
            <a:avLst/>
          </a:prstGeom>
          <a:solidFill>
            <a:srgbClr val="C00000">
              <a:alpha val="21961"/>
            </a:srgbClr>
          </a:solidFill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DC97E37-1904-3D67-4C4E-3A3EAD0FC400}"/>
              </a:ext>
            </a:extLst>
          </p:cNvPr>
          <p:cNvSpPr/>
          <p:nvPr/>
        </p:nvSpPr>
        <p:spPr>
          <a:xfrm>
            <a:off x="2128058" y="235314"/>
            <a:ext cx="2317865" cy="246824"/>
          </a:xfrm>
          <a:prstGeom prst="rect">
            <a:avLst/>
          </a:prstGeom>
          <a:solidFill>
            <a:srgbClr val="FFFF00">
              <a:alpha val="21961"/>
            </a:srgbClr>
          </a:solidFill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4DC7E2A7-9048-278C-FD5F-8F8A39DE479D}"/>
              </a:ext>
            </a:extLst>
          </p:cNvPr>
          <p:cNvSpPr txBox="1"/>
          <p:nvPr/>
        </p:nvSpPr>
        <p:spPr>
          <a:xfrm>
            <a:off x="9390670" y="5277115"/>
            <a:ext cx="125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C00000"/>
                </a:solidFill>
              </a:rPr>
              <a:t>Memory</a:t>
            </a:r>
            <a:endParaRPr lang="en-DE">
              <a:solidFill>
                <a:srgbClr val="C00000"/>
              </a:solidFill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FEE31A4-48CF-61EE-1DF9-1CD486F7F93D}"/>
              </a:ext>
            </a:extLst>
          </p:cNvPr>
          <p:cNvSpPr txBox="1"/>
          <p:nvPr/>
        </p:nvSpPr>
        <p:spPr>
          <a:xfrm>
            <a:off x="4780364" y="5340526"/>
            <a:ext cx="125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B050"/>
                </a:solidFill>
              </a:rPr>
              <a:t>Variablen</a:t>
            </a:r>
            <a:endParaRPr lang="en-DE">
              <a:solidFill>
                <a:srgbClr val="00B050"/>
              </a:solidFill>
            </a:endParaRP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E033875-C186-A765-B979-49D5D28C714D}"/>
              </a:ext>
            </a:extLst>
          </p:cNvPr>
          <p:cNvSpPr txBox="1"/>
          <p:nvPr/>
        </p:nvSpPr>
        <p:spPr>
          <a:xfrm>
            <a:off x="6950765" y="1981200"/>
            <a:ext cx="1252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0070C0"/>
                </a:solidFill>
              </a:rPr>
              <a:t>Editor</a:t>
            </a:r>
            <a:endParaRPr lang="en-DE">
              <a:solidFill>
                <a:srgbClr val="0070C0"/>
              </a:solidFill>
            </a:endParaRP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0477F6BD-41A6-2658-5836-C4E52A416498}"/>
              </a:ext>
            </a:extLst>
          </p:cNvPr>
          <p:cNvSpPr txBox="1"/>
          <p:nvPr/>
        </p:nvSpPr>
        <p:spPr>
          <a:xfrm>
            <a:off x="851504" y="1446211"/>
            <a:ext cx="125233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C7A1E3"/>
                </a:solidFill>
              </a:rPr>
              <a:t>Dateien</a:t>
            </a:r>
            <a:endParaRPr lang="en-DE" dirty="0">
              <a:solidFill>
                <a:srgbClr val="C7A1E3"/>
              </a:solidFill>
            </a:endParaRP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090AD91C-141B-71F0-3DB5-92A1E5ED3C23}"/>
              </a:ext>
            </a:extLst>
          </p:cNvPr>
          <p:cNvSpPr txBox="1"/>
          <p:nvPr/>
        </p:nvSpPr>
        <p:spPr>
          <a:xfrm>
            <a:off x="1591734" y="5411789"/>
            <a:ext cx="1252331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0000"/>
                </a:solidFill>
              </a:rPr>
              <a:t>Frames</a:t>
            </a:r>
            <a:endParaRPr lang="en-DE">
              <a:solidFill>
                <a:srgbClr val="FF0000"/>
              </a:solidFill>
            </a:endParaRP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5185286A-6C7C-7729-4AE9-8A0E9D45DDFA}"/>
              </a:ext>
            </a:extLst>
          </p:cNvPr>
          <p:cNvSpPr txBox="1"/>
          <p:nvPr/>
        </p:nvSpPr>
        <p:spPr>
          <a:xfrm>
            <a:off x="4445923" y="193696"/>
            <a:ext cx="2238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rgbClr val="FFFF00"/>
                </a:solidFill>
              </a:rPr>
              <a:t>Kontrollelemente</a:t>
            </a:r>
          </a:p>
        </p:txBody>
      </p:sp>
    </p:spTree>
    <p:extLst>
      <p:ext uri="{BB962C8B-B14F-4D97-AF65-F5344CB8AC3E}">
        <p14:creationId xmlns:p14="http://schemas.microsoft.com/office/powerpoint/2010/main" val="11930373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20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91F68CED-97B8-A9C5-5B27-BE16A70F80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892" y="3615833"/>
            <a:ext cx="11744325" cy="244489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FF64B162-B553-460E-B986-8EBC5FF00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Der Breakpoint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74DA06-5CAE-4FAF-BDDF-260A7EB4C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6621"/>
            <a:ext cx="9100847" cy="3880773"/>
          </a:xfrm>
        </p:spPr>
        <p:txBody>
          <a:bodyPr/>
          <a:lstStyle/>
          <a:p>
            <a:r>
              <a:rPr lang="de-DE" sz="1800"/>
              <a:t>Eine Markierung in einer Zeile, die im Debug-Modus, die Ausführung anhält</a:t>
            </a:r>
          </a:p>
          <a:p>
            <a:r>
              <a:rPr lang="de-DE" sz="1800"/>
              <a:t>Normalfall: an der linken Seite wird ein Punkt gesetzt</a:t>
            </a:r>
          </a:p>
          <a:p>
            <a:r>
              <a:rPr lang="de-DE" sz="1800"/>
              <a:t>Spezialfall: Lambda, Methoden, Verschachtelung in Methoden- hängt von IDE ab </a:t>
            </a:r>
          </a:p>
          <a:p>
            <a:r>
              <a:rPr lang="de-DE" sz="1800"/>
              <a:t>Sind deaktivierbar oder entfernbar</a:t>
            </a:r>
          </a:p>
          <a:p>
            <a:pPr>
              <a:buFont typeface="+mj-lt"/>
              <a:buAutoNum type="arabicPeriod"/>
            </a:pPr>
            <a:endParaRPr lang="en-DE" sz="180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B6D581B-EAE2-2EBE-DCD4-793E93370258}"/>
              </a:ext>
            </a:extLst>
          </p:cNvPr>
          <p:cNvSpPr/>
          <p:nvPr/>
        </p:nvSpPr>
        <p:spPr>
          <a:xfrm>
            <a:off x="748748" y="3692065"/>
            <a:ext cx="6433930" cy="212035"/>
          </a:xfrm>
          <a:prstGeom prst="rect">
            <a:avLst/>
          </a:prstGeom>
          <a:solidFill>
            <a:srgbClr val="FFFF00">
              <a:alpha val="18039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70EEFBA-4886-21D5-75F0-F0AF2921B195}"/>
              </a:ext>
            </a:extLst>
          </p:cNvPr>
          <p:cNvSpPr txBox="1"/>
          <p:nvPr/>
        </p:nvSpPr>
        <p:spPr>
          <a:xfrm>
            <a:off x="7254093" y="362090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>
                <a:solidFill>
                  <a:srgbClr val="FFC000"/>
                </a:solidFill>
              </a:rPr>
              <a:t>Langsam</a:t>
            </a:r>
            <a:endParaRPr lang="en-DE">
              <a:solidFill>
                <a:srgbClr val="FFC000"/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A24ABFA-8307-F6E2-881F-026E81AB39E0}"/>
              </a:ext>
            </a:extLst>
          </p:cNvPr>
          <p:cNvSpPr txBox="1"/>
          <p:nvPr/>
        </p:nvSpPr>
        <p:spPr>
          <a:xfrm>
            <a:off x="8240468" y="2493165"/>
            <a:ext cx="37967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de-DE" sz="1800"/>
              <a:t> Methode</a:t>
            </a:r>
          </a:p>
          <a:p>
            <a:pPr>
              <a:buFont typeface="+mj-lt"/>
              <a:buAutoNum type="arabicPeriod"/>
            </a:pPr>
            <a:r>
              <a:rPr lang="de-DE" sz="1800"/>
              <a:t> Zeile</a:t>
            </a:r>
          </a:p>
          <a:p>
            <a:pPr>
              <a:buFont typeface="+mj-lt"/>
              <a:buAutoNum type="arabicPeriod"/>
            </a:pPr>
            <a:r>
              <a:rPr lang="de-DE" sz="1800"/>
              <a:t> Lambda</a:t>
            </a:r>
          </a:p>
          <a:p>
            <a:pPr>
              <a:buFont typeface="+mj-lt"/>
              <a:buAutoNum type="arabicPeriod"/>
            </a:pPr>
            <a:r>
              <a:rPr lang="de-DE" sz="1800"/>
              <a:t> Deaktiviert</a:t>
            </a:r>
            <a:endParaRPr lang="en-DE" sz="1800"/>
          </a:p>
        </p:txBody>
      </p:sp>
    </p:spTree>
    <p:extLst>
      <p:ext uri="{BB962C8B-B14F-4D97-AF65-F5344CB8AC3E}">
        <p14:creationId xmlns:p14="http://schemas.microsoft.com/office/powerpoint/2010/main" val="33480300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EB38F6F-65FB-42E4-B522-261839B58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Bedingte Breakpoints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425BFB2-4824-448E-BAD1-4E026768B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215416"/>
            <a:ext cx="10580687" cy="4360861"/>
          </a:xfrm>
        </p:spPr>
        <p:txBody>
          <a:bodyPr/>
          <a:lstStyle/>
          <a:p>
            <a:r>
              <a:rPr lang="de-DE" sz="1800" dirty="0"/>
              <a:t>Breakpoints können auch halten wenn: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Eine Expression </a:t>
            </a:r>
            <a:r>
              <a:rPr lang="de-DE" sz="1800" i="1" dirty="0" err="1"/>
              <a:t>true</a:t>
            </a:r>
            <a:r>
              <a:rPr lang="de-DE" sz="1800" dirty="0"/>
              <a:t> 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dirty="0"/>
              <a:t>Eine Schleife n-Mal durchlaufen ist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800" dirty="0"/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4485A646-BC27-C252-606D-B8B421D97A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146" y="708431"/>
            <a:ext cx="3984671" cy="1268304"/>
          </a:xfrm>
          <a:prstGeom prst="rect">
            <a:avLst/>
          </a:prstGeom>
        </p:spPr>
      </p:pic>
      <p:pic>
        <p:nvPicPr>
          <p:cNvPr id="14" name="Grafik 13" descr="Ein Bild, das Text enthält.&#10;&#10;Automatisch generierte Beschreibung">
            <a:extLst>
              <a:ext uri="{FF2B5EF4-FFF2-40B4-BE49-F238E27FC236}">
                <a16:creationId xmlns:a16="http://schemas.microsoft.com/office/drawing/2014/main" id="{2AFE33F6-3460-D7DC-D6FD-4388732A8AE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8"/>
          <a:stretch/>
        </p:blipFill>
        <p:spPr>
          <a:xfrm>
            <a:off x="2477230" y="2375347"/>
            <a:ext cx="9472417" cy="230344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2CDEEC69-FC53-BF11-C869-76F21D64DE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980" y="3033882"/>
            <a:ext cx="3579137" cy="1785061"/>
          </a:xfrm>
          <a:prstGeom prst="rect">
            <a:avLst/>
          </a:prstGeom>
        </p:spPr>
      </p:pic>
      <p:pic>
        <p:nvPicPr>
          <p:cNvPr id="16" name="Grafik 15" descr="Ein Bild, das Text, Screenshot, Monitor, Fernsehen enthält.&#10;&#10;Automatisch generierte Beschreibung">
            <a:extLst>
              <a:ext uri="{FF2B5EF4-FFF2-40B4-BE49-F238E27FC236}">
                <a16:creationId xmlns:a16="http://schemas.microsoft.com/office/drawing/2014/main" id="{A1722E28-7045-9348-3E4C-61E9C84159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250" y="2913746"/>
            <a:ext cx="6252221" cy="345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47192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363EA3C6-EE43-4530-9375-F25494AA7F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4" t="1030" r="820" b="1461"/>
          <a:stretch/>
        </p:blipFill>
        <p:spPr>
          <a:xfrm>
            <a:off x="5880969" y="1625072"/>
            <a:ext cx="6213663" cy="4360861"/>
          </a:xfrm>
          <a:prstGeom prst="rect">
            <a:avLst/>
          </a:prstGeom>
        </p:spPr>
      </p:pic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1116343A-B979-A099-AE71-C8C30C43BEBB}"/>
              </a:ext>
            </a:extLst>
          </p:cNvPr>
          <p:cNvSpPr txBox="1">
            <a:spLocks/>
          </p:cNvSpPr>
          <p:nvPr/>
        </p:nvSpPr>
        <p:spPr>
          <a:xfrm>
            <a:off x="443753" y="1481138"/>
            <a:ext cx="5437216" cy="436086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de-DE" sz="1800"/>
              <a:t>Zeigt alle gesetzten Breakpoints</a:t>
            </a:r>
          </a:p>
          <a:p>
            <a:pPr>
              <a:lnSpc>
                <a:spcPct val="150000"/>
              </a:lnSpc>
            </a:pPr>
            <a:r>
              <a:rPr lang="de-DE" sz="1800"/>
              <a:t>Erlaubt diese zu aktivieren/ deaktivieren </a:t>
            </a:r>
            <a:br>
              <a:rPr lang="de-DE" sz="1800"/>
            </a:br>
            <a:r>
              <a:rPr lang="de-DE" sz="1800"/>
              <a:t>oder auch wieder zu entfernen</a:t>
            </a:r>
          </a:p>
          <a:p>
            <a:pPr>
              <a:lnSpc>
                <a:spcPct val="150000"/>
              </a:lnSpc>
            </a:pPr>
            <a:r>
              <a:rPr lang="de-DE" sz="1800"/>
              <a:t>Je nach IDE können Bedingungen hinzugefügt werden</a:t>
            </a:r>
          </a:p>
          <a:p>
            <a:pPr>
              <a:lnSpc>
                <a:spcPct val="150000"/>
              </a:lnSpc>
            </a:pPr>
            <a:r>
              <a:rPr lang="de-DE" sz="1800"/>
              <a:t>Logging ist möglich</a:t>
            </a:r>
          </a:p>
          <a:p>
            <a:pPr>
              <a:lnSpc>
                <a:spcPct val="150000"/>
              </a:lnSpc>
            </a:pPr>
            <a:endParaRPr lang="en-DE" sz="180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2A675EF8-0090-3A9E-DCB2-9C01C506874C}"/>
              </a:ext>
            </a:extLst>
          </p:cNvPr>
          <p:cNvSpPr txBox="1">
            <a:spLocks/>
          </p:cNvSpPr>
          <p:nvPr/>
        </p:nvSpPr>
        <p:spPr>
          <a:xfrm>
            <a:off x="874712" y="346075"/>
            <a:ext cx="10580687" cy="6842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0">
            <a:noAutofit/>
          </a:bodyPr>
          <a:lstStyle>
            <a:lvl1pPr algn="l" defTabSz="914269" rtl="0" eaLnBrk="1" latinLnBrk="0" hangingPunct="1">
              <a:spcBef>
                <a:spcPct val="0"/>
              </a:spcBef>
              <a:buNone/>
              <a:defRPr sz="24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>
                <a:solidFill>
                  <a:srgbClr val="002060"/>
                </a:solidFill>
              </a:rPr>
              <a:t>Breakpoint-Fenster</a:t>
            </a:r>
            <a:endParaRPr lang="en-DE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942905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 descr="Ein Bild, das Text, Monitor, Screenshot, Bildschirm enthält.&#10;&#10;Automatisch generierte Beschreibung">
            <a:extLst>
              <a:ext uri="{FF2B5EF4-FFF2-40B4-BE49-F238E27FC236}">
                <a16:creationId xmlns:a16="http://schemas.microsoft.com/office/drawing/2014/main" id="{59138F39-E2F6-62B6-F2B5-1E65875462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14" y="2552645"/>
            <a:ext cx="8744399" cy="336567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5978689-218F-463A-A78F-F77A26B4E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Das Programmfenster</a:t>
            </a:r>
          </a:p>
        </p:txBody>
      </p:sp>
      <p:pic>
        <p:nvPicPr>
          <p:cNvPr id="5" name="Inhaltsplatzhalter 4" descr="Ein Bild, das Screenshot, Monitor, drinnen, Bildschirm enthält.&#10;&#10;Automatisch generierte Beschreibung">
            <a:extLst>
              <a:ext uri="{FF2B5EF4-FFF2-40B4-BE49-F238E27FC236}">
                <a16:creationId xmlns:a16="http://schemas.microsoft.com/office/drawing/2014/main" id="{61F0158C-B9F7-4ECF-91C4-B537DB01A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6086" y="1621473"/>
            <a:ext cx="9546248" cy="3250913"/>
          </a:xfrm>
        </p:spPr>
      </p:pic>
      <p:sp>
        <p:nvSpPr>
          <p:cNvPr id="6" name="Pfeil: nach unten 5">
            <a:extLst>
              <a:ext uri="{FF2B5EF4-FFF2-40B4-BE49-F238E27FC236}">
                <a16:creationId xmlns:a16="http://schemas.microsoft.com/office/drawing/2014/main" id="{A9B883F3-6A7C-48EB-A235-F9706A70AC34}"/>
              </a:ext>
            </a:extLst>
          </p:cNvPr>
          <p:cNvSpPr/>
          <p:nvPr/>
        </p:nvSpPr>
        <p:spPr>
          <a:xfrm>
            <a:off x="704850" y="1997192"/>
            <a:ext cx="540000" cy="261544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B435AD6-7EC1-467C-A9F8-AD342E879792}"/>
              </a:ext>
            </a:extLst>
          </p:cNvPr>
          <p:cNvSpPr txBox="1"/>
          <p:nvPr/>
        </p:nvSpPr>
        <p:spPr>
          <a:xfrm>
            <a:off x="457068" y="1436807"/>
            <a:ext cx="2460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Breakpoint in Zeile 11</a:t>
            </a:r>
          </a:p>
        </p:txBody>
      </p:sp>
      <p:sp>
        <p:nvSpPr>
          <p:cNvPr id="8" name="Pfeil: nach unten 7">
            <a:extLst>
              <a:ext uri="{FF2B5EF4-FFF2-40B4-BE49-F238E27FC236}">
                <a16:creationId xmlns:a16="http://schemas.microsoft.com/office/drawing/2014/main" id="{0CF42802-4574-4742-A749-52FB508C43A5}"/>
              </a:ext>
            </a:extLst>
          </p:cNvPr>
          <p:cNvSpPr/>
          <p:nvPr/>
        </p:nvSpPr>
        <p:spPr>
          <a:xfrm>
            <a:off x="4814728" y="1997192"/>
            <a:ext cx="540000" cy="2676407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C774D360-0A83-4175-AFD0-4A184298EF8C}"/>
              </a:ext>
            </a:extLst>
          </p:cNvPr>
          <p:cNvSpPr txBox="1"/>
          <p:nvPr/>
        </p:nvSpPr>
        <p:spPr>
          <a:xfrm>
            <a:off x="4083208" y="1297550"/>
            <a:ext cx="53803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Blaue Zeile markiert, wo das Programm aktuell ist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>
                <a:solidFill>
                  <a:prstClr val="black"/>
                </a:solidFill>
                <a:latin typeface="Trebuchet MS" panose="020B0603020202020204"/>
              </a:rPr>
              <a:t>       Zeile wurde noch nicht ausgeführt!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0" name="Pfeil: nach unten 9">
            <a:extLst>
              <a:ext uri="{FF2B5EF4-FFF2-40B4-BE49-F238E27FC236}">
                <a16:creationId xmlns:a16="http://schemas.microsoft.com/office/drawing/2014/main" id="{E90C02F5-3965-41F1-AAAC-8D59A27111DB}"/>
              </a:ext>
            </a:extLst>
          </p:cNvPr>
          <p:cNvSpPr/>
          <p:nvPr/>
        </p:nvSpPr>
        <p:spPr>
          <a:xfrm rot="3605402">
            <a:off x="8229995" y="3081327"/>
            <a:ext cx="540000" cy="2189338"/>
          </a:xfrm>
          <a:prstGeom prst="downArrow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ebuchet MS" panose="020B060302020202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FCE8378-AD6C-42C0-B335-1EA9C15841C7}"/>
              </a:ext>
            </a:extLst>
          </p:cNvPr>
          <p:cNvSpPr txBox="1"/>
          <p:nvPr/>
        </p:nvSpPr>
        <p:spPr>
          <a:xfrm>
            <a:off x="9644942" y="3189305"/>
            <a:ext cx="2329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Extra Informationen zur Laufzeit</a:t>
            </a:r>
          </a:p>
        </p:txBody>
      </p:sp>
      <p:pic>
        <p:nvPicPr>
          <p:cNvPr id="16" name="Grafik 15" descr="Ein Bild, das Text, Erste Hilfe-Kasten enthält.&#10;&#10;Automatisch generierte Beschreibung">
            <a:extLst>
              <a:ext uri="{FF2B5EF4-FFF2-40B4-BE49-F238E27FC236}">
                <a16:creationId xmlns:a16="http://schemas.microsoft.com/office/drawing/2014/main" id="{179F9B06-D16F-D40C-0952-68917640C96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82" r="83014"/>
          <a:stretch/>
        </p:blipFill>
        <p:spPr>
          <a:xfrm>
            <a:off x="9761126" y="4325989"/>
            <a:ext cx="538230" cy="629891"/>
          </a:xfrm>
          <a:prstGeom prst="rect">
            <a:avLst/>
          </a:prstGeom>
        </p:spPr>
      </p:pic>
      <p:sp>
        <p:nvSpPr>
          <p:cNvPr id="17" name="Textfeld 16">
            <a:extLst>
              <a:ext uri="{FF2B5EF4-FFF2-40B4-BE49-F238E27FC236}">
                <a16:creationId xmlns:a16="http://schemas.microsoft.com/office/drawing/2014/main" id="{155ED7B9-5808-1FF8-1746-046BDF89465E}"/>
              </a:ext>
            </a:extLst>
          </p:cNvPr>
          <p:cNvSpPr txBox="1"/>
          <p:nvPr/>
        </p:nvSpPr>
        <p:spPr>
          <a:xfrm>
            <a:off x="9677759" y="4955880"/>
            <a:ext cx="2082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rPr>
              <a:t>Springt zur aktuellen Zeile</a:t>
            </a:r>
          </a:p>
        </p:txBody>
      </p:sp>
    </p:spTree>
    <p:extLst>
      <p:ext uri="{BB962C8B-B14F-4D97-AF65-F5344CB8AC3E}">
        <p14:creationId xmlns:p14="http://schemas.microsoft.com/office/powerpoint/2010/main" val="29270733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648FD4-121E-4744-BBED-D4A1605F2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Schritt für Schritt zum Fehler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9E698F-AE7D-46B2-945F-908ABCDE2B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448480"/>
            <a:ext cx="10580687" cy="43608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Es gibt verschiedene Varianten, um das Programm weiter auszuführen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Step Over – führt nächsten Befehl aus, geht nicht in die Methode hinein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Step Into – geht in die nächste Methode hinein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Step Out – geht eine „Ebene“ höher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de-DE" sz="1800"/>
              <a:t> Resume – Programm läuft weiter</a:t>
            </a:r>
          </a:p>
          <a:p>
            <a:pPr marL="537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Bis zum nächsten Breakpoint</a:t>
            </a:r>
          </a:p>
          <a:p>
            <a:pPr marL="5377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Bis zur Cursor-Position</a:t>
            </a:r>
          </a:p>
          <a:p>
            <a:pPr marL="429750" lvl="8" indent="-285750">
              <a:lnSpc>
                <a:spcPct val="150000"/>
              </a:lnSpc>
            </a:pPr>
            <a:endParaRPr lang="de-DE" sz="1600"/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endParaRPr lang="de-DE" sz="1800"/>
          </a:p>
        </p:txBody>
      </p:sp>
      <p:pic>
        <p:nvPicPr>
          <p:cNvPr id="9" name="Grafik 8" descr="Ein Bild, das Text, Erste Hilfe-Kasten enthält.&#10;&#10;Automatisch generierte Beschreibung">
            <a:extLst>
              <a:ext uri="{FF2B5EF4-FFF2-40B4-BE49-F238E27FC236}">
                <a16:creationId xmlns:a16="http://schemas.microsoft.com/office/drawing/2014/main" id="{9FE6C691-DD44-D5E2-E696-C58DEED211A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6"/>
          <a:stretch/>
        </p:blipFill>
        <p:spPr>
          <a:xfrm>
            <a:off x="7533639" y="2777199"/>
            <a:ext cx="3921760" cy="94527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576B656-A662-278F-6E87-4E6ED8D80E7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24"/>
          <a:stretch/>
        </p:blipFill>
        <p:spPr>
          <a:xfrm>
            <a:off x="10623292" y="3792102"/>
            <a:ext cx="754040" cy="762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112044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3619D2EE-DD80-157B-5490-2C4945B48A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" t="6687" r="-1238"/>
          <a:stretch/>
        </p:blipFill>
        <p:spPr>
          <a:xfrm>
            <a:off x="8672237" y="2424879"/>
            <a:ext cx="3389067" cy="1763209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9944F0F-B59E-DB3A-5F3F-3E32120C54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57"/>
          <a:stretch/>
        </p:blipFill>
        <p:spPr>
          <a:xfrm>
            <a:off x="8672237" y="2424871"/>
            <a:ext cx="3389067" cy="356242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986DC565-B6BA-4E05-81E2-D69EB5F3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Variablen-Fenster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05E7A05-0D8E-4ED4-AC83-EB3AF2664D2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de-DE" sz="1800" dirty="0"/>
              <a:t>Enthält alle Variablen im aktuellem Frame</a:t>
            </a:r>
          </a:p>
          <a:p>
            <a:r>
              <a:rPr lang="de-DE" sz="1800" dirty="0"/>
              <a:t>Man kann auch weitere Variablen überwachen; werden immer aufgelistet </a:t>
            </a:r>
          </a:p>
          <a:p>
            <a:r>
              <a:rPr lang="de-DE" sz="1800" dirty="0"/>
              <a:t>Alle Variablen können angesehen und geändert werden</a:t>
            </a:r>
          </a:p>
          <a:p>
            <a:r>
              <a:rPr lang="de-DE" sz="1800" dirty="0"/>
              <a:t>Manche Watches werden von der IDE hinzugefügt</a:t>
            </a:r>
          </a:p>
        </p:txBody>
      </p:sp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961E6651-1E71-D3E5-258F-734D08731D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806" y="3429000"/>
            <a:ext cx="8347655" cy="133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612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6DC565-B6BA-4E05-81E2-D69EB5F3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Variablen-Fenster – Verändern von Werten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7D4E0F33-8C3F-A2BF-CAE1-26D5D2A6A7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8615" b="40748"/>
          <a:stretch/>
        </p:blipFill>
        <p:spPr>
          <a:xfrm>
            <a:off x="383521" y="2582398"/>
            <a:ext cx="1838590" cy="1446765"/>
          </a:xfr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992EF69-235F-DFDF-466A-CA760102141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4244" t="64726" r="45954" b="9335"/>
          <a:stretch/>
        </p:blipFill>
        <p:spPr>
          <a:xfrm>
            <a:off x="3184408" y="1285563"/>
            <a:ext cx="4542111" cy="470345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63E175E-635F-A320-C1F6-D0D5F861940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857" t="66115" r="50951" b="23006"/>
          <a:stretch/>
        </p:blipFill>
        <p:spPr>
          <a:xfrm>
            <a:off x="8951896" y="2486380"/>
            <a:ext cx="2875982" cy="2358123"/>
          </a:xfrm>
          <a:prstGeom prst="rect">
            <a:avLst/>
          </a:prstGeom>
        </p:spPr>
      </p:pic>
      <p:sp>
        <p:nvSpPr>
          <p:cNvPr id="12" name="Pfeil: nach rechts 11">
            <a:extLst>
              <a:ext uri="{FF2B5EF4-FFF2-40B4-BE49-F238E27FC236}">
                <a16:creationId xmlns:a16="http://schemas.microsoft.com/office/drawing/2014/main" id="{120ABBDC-E3F0-8ED6-2633-5AC35103DDF1}"/>
              </a:ext>
            </a:extLst>
          </p:cNvPr>
          <p:cNvSpPr/>
          <p:nvPr/>
        </p:nvSpPr>
        <p:spPr>
          <a:xfrm>
            <a:off x="2222111" y="3021874"/>
            <a:ext cx="962297" cy="6139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Pfeil: nach rechts 12">
            <a:extLst>
              <a:ext uri="{FF2B5EF4-FFF2-40B4-BE49-F238E27FC236}">
                <a16:creationId xmlns:a16="http://schemas.microsoft.com/office/drawing/2014/main" id="{62215922-CC3B-E890-2ACA-8D8925234A9C}"/>
              </a:ext>
            </a:extLst>
          </p:cNvPr>
          <p:cNvSpPr/>
          <p:nvPr/>
        </p:nvSpPr>
        <p:spPr>
          <a:xfrm>
            <a:off x="7712866" y="3429000"/>
            <a:ext cx="962297" cy="6139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117691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CC1707-BA47-4C14-860F-5352FE4D5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Frame Stack-Fenster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2BF4C1-08AB-48BF-867E-B24C48DC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082" y="1094154"/>
            <a:ext cx="7096010" cy="470095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In Java-VM ist jede Methode in einem Frame – Siehe [3] 2.6</a:t>
            </a:r>
          </a:p>
          <a:p>
            <a:pPr>
              <a:lnSpc>
                <a:spcPct val="150000"/>
              </a:lnSpc>
            </a:pPr>
            <a:r>
              <a:rPr lang="de-DE" sz="1800"/>
              <a:t>Dazu gehören die entsprechenden Variablen</a:t>
            </a:r>
          </a:p>
          <a:p>
            <a:pPr>
              <a:lnSpc>
                <a:spcPct val="150000"/>
              </a:lnSpc>
            </a:pPr>
            <a:r>
              <a:rPr lang="de-DE" sz="1800"/>
              <a:t>Frames können durchsucht werden</a:t>
            </a:r>
          </a:p>
          <a:p>
            <a:pPr>
              <a:lnSpc>
                <a:spcPct val="250000"/>
              </a:lnSpc>
            </a:pPr>
            <a:r>
              <a:rPr lang="de-DE" sz="1800"/>
              <a:t>Ein Frame kann auch verworfen werden</a:t>
            </a:r>
          </a:p>
          <a:p>
            <a:pPr>
              <a:lnSpc>
                <a:spcPct val="150000"/>
              </a:lnSpc>
            </a:pPr>
            <a:endParaRPr lang="de-DE" sz="1800"/>
          </a:p>
        </p:txBody>
      </p:sp>
      <p:pic>
        <p:nvPicPr>
          <p:cNvPr id="6" name="Grafik 5" descr="Ein Bild, das Text enthält.&#10;&#10;Automatisch generierte Beschreibung">
            <a:extLst>
              <a:ext uri="{FF2B5EF4-FFF2-40B4-BE49-F238E27FC236}">
                <a16:creationId xmlns:a16="http://schemas.microsoft.com/office/drawing/2014/main" id="{FFC9F4F0-F487-A136-FE89-40AA7B925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165" y="1445846"/>
            <a:ext cx="4096571" cy="450993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2F202D9C-25F6-1284-A4D8-BD1A3EDF0EF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93" t="48175" r="68625" b="22301"/>
          <a:stretch/>
        </p:blipFill>
        <p:spPr>
          <a:xfrm>
            <a:off x="774082" y="3377833"/>
            <a:ext cx="4126948" cy="265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6100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13C2E-F123-6A9D-04F2-3081A954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Extra Fenster - Memory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A0D7C5-857B-675F-8282-FB34B4FFD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Zeigt </a:t>
            </a:r>
            <a:r>
              <a:rPr lang="de-DE" sz="2000" i="1"/>
              <a:t>alle</a:t>
            </a:r>
            <a:r>
              <a:rPr lang="de-DE" sz="1800"/>
              <a:t> Objekte im Speicher!</a:t>
            </a:r>
          </a:p>
          <a:p>
            <a:pPr>
              <a:lnSpc>
                <a:spcPct val="150000"/>
              </a:lnSpc>
            </a:pPr>
            <a:r>
              <a:rPr lang="de-DE" sz="1800"/>
              <a:t>Sind nach Klasse sortiert.</a:t>
            </a:r>
          </a:p>
          <a:p>
            <a:pPr>
              <a:lnSpc>
                <a:spcPct val="150000"/>
              </a:lnSpc>
            </a:pPr>
            <a:r>
              <a:rPr lang="de-DE" sz="1800"/>
              <a:t>Zeigt exakte Anzahl der Objekte</a:t>
            </a:r>
          </a:p>
          <a:p>
            <a:pPr>
              <a:lnSpc>
                <a:spcPct val="150000"/>
              </a:lnSpc>
            </a:pPr>
            <a:r>
              <a:rPr lang="de-DE" sz="1800"/>
              <a:t>Diff = Änderung seit letztem Update</a:t>
            </a:r>
            <a:endParaRPr lang="en-DE" sz="1800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FFF69BA2-BE59-28F6-3EC3-0169FD719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2393" y="346075"/>
            <a:ext cx="5632739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365841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B53519-F53F-F8C2-1EC5-FDFB05DE7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Weitere Hilfen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A251A9-9FB3-51E8-AA28-7A30B2E4C07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74712" y="1324831"/>
            <a:ext cx="5195887" cy="4360862"/>
          </a:xfrm>
        </p:spPr>
        <p:txBody>
          <a:bodyPr/>
          <a:lstStyle/>
          <a:p>
            <a:r>
              <a:rPr lang="de-DE" sz="1800"/>
              <a:t>Expression Evaluator</a:t>
            </a:r>
          </a:p>
          <a:p>
            <a:r>
              <a:rPr lang="de-DE" sz="1800"/>
              <a:t>(Alt + F8) </a:t>
            </a:r>
          </a:p>
          <a:p>
            <a:r>
              <a:rPr lang="de-DE" sz="1800"/>
              <a:t>Kann jeden Ausdruck auswerten</a:t>
            </a:r>
          </a:p>
          <a:p>
            <a:r>
              <a:rPr lang="de-DE" sz="1800"/>
              <a:t>Achtung kann Schaden anrichten!</a:t>
            </a:r>
          </a:p>
          <a:p>
            <a:endParaRPr lang="de-DE" sz="1800"/>
          </a:p>
          <a:p>
            <a:endParaRPr lang="de-DE" sz="1800"/>
          </a:p>
          <a:p>
            <a:endParaRPr lang="de-DE" sz="1800"/>
          </a:p>
          <a:p>
            <a:endParaRPr lang="de-DE" sz="180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9D6E87F-EE64-98D5-7C04-C41F7D6CA87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267448" y="1324831"/>
            <a:ext cx="5195887" cy="4360862"/>
          </a:xfrm>
        </p:spPr>
        <p:txBody>
          <a:bodyPr/>
          <a:lstStyle/>
          <a:p>
            <a:r>
              <a:rPr lang="de-DE" sz="1800"/>
              <a:t>Chain Stream </a:t>
            </a:r>
          </a:p>
          <a:p>
            <a:r>
              <a:rPr lang="de-DE" sz="1800"/>
              <a:t>Benötigt ausführende Aktion</a:t>
            </a:r>
          </a:p>
          <a:p>
            <a:r>
              <a:rPr lang="de-DE" sz="1800"/>
              <a:t>Nur in IntelliJ vorhanden</a:t>
            </a:r>
          </a:p>
          <a:p>
            <a:endParaRPr lang="de-DE" sz="180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A8C77772-4979-096A-2D93-E0825EC9B6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6480" y="2556253"/>
            <a:ext cx="5866567" cy="3692929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0F157F2A-99C7-1B23-D01A-3FB419B7C8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3909" y="1172307"/>
            <a:ext cx="599925" cy="475413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D5DDB49C-12FE-31BF-629F-EB1F6E3237D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655" y="1172308"/>
            <a:ext cx="521795" cy="475412"/>
          </a:xfrm>
          <a:prstGeom prst="rect">
            <a:avLst/>
          </a:prstGeom>
        </p:spPr>
      </p:pic>
      <p:pic>
        <p:nvPicPr>
          <p:cNvPr id="22" name="Grafik 21" descr="Ein Bild, das Text enthält.&#10;&#10;Automatisch generierte Beschreibung">
            <a:extLst>
              <a:ext uri="{FF2B5EF4-FFF2-40B4-BE49-F238E27FC236}">
                <a16:creationId xmlns:a16="http://schemas.microsoft.com/office/drawing/2014/main" id="{840FB460-348E-F369-4EAB-23FF44040D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12" y="2786033"/>
            <a:ext cx="4248368" cy="1124008"/>
          </a:xfrm>
          <a:prstGeom prst="rect">
            <a:avLst/>
          </a:prstGeom>
        </p:spPr>
      </p:pic>
      <p:pic>
        <p:nvPicPr>
          <p:cNvPr id="24" name="Grafik 23" descr="Ein Bild, das Text enthält.&#10;&#10;Automatisch generierte Beschreibung">
            <a:extLst>
              <a:ext uri="{FF2B5EF4-FFF2-40B4-BE49-F238E27FC236}">
                <a16:creationId xmlns:a16="http://schemas.microsoft.com/office/drawing/2014/main" id="{6FB059DE-AB1B-FC68-C264-B675BEFA81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45" y="4005122"/>
            <a:ext cx="4648439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793629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A95A7-CF4C-EE7C-457F-1A9A1D42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291367"/>
            <a:ext cx="10580687" cy="684213"/>
          </a:xfrm>
        </p:spPr>
        <p:txBody>
          <a:bodyPr/>
          <a:lstStyle/>
          <a:p>
            <a:r>
              <a:rPr lang="de-DE"/>
              <a:t>Andere Sprachen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C1EDF9-7BFD-6DC8-55BD-30224678914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080262-D581-24A2-AEB3-23DBE5B045E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C9BF986-7961-EF84-895D-BC4AEC492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2541" y="0"/>
            <a:ext cx="8033770" cy="68580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799F85AE-172D-FF23-67FE-5B12DF337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10" y="766334"/>
            <a:ext cx="2737829" cy="5932869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6D09BC8-0723-FDE1-3541-C003ADA741A3}"/>
              </a:ext>
            </a:extLst>
          </p:cNvPr>
          <p:cNvSpPr/>
          <p:nvPr/>
        </p:nvSpPr>
        <p:spPr>
          <a:xfrm>
            <a:off x="4040554" y="1852246"/>
            <a:ext cx="1594338" cy="1328616"/>
          </a:xfrm>
          <a:prstGeom prst="rect">
            <a:avLst/>
          </a:prstGeom>
          <a:solidFill>
            <a:srgbClr val="C00000">
              <a:alpha val="21176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367761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3A95A7-CF4C-EE7C-457F-1A9A1D42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291367"/>
            <a:ext cx="10580687" cy="684213"/>
          </a:xfrm>
        </p:spPr>
        <p:txBody>
          <a:bodyPr/>
          <a:lstStyle/>
          <a:p>
            <a:r>
              <a:rPr lang="de-DE"/>
              <a:t>Andere Sprachen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3C1EDF9-7BFD-6DC8-55BD-30224678914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080262-D581-24A2-AEB3-23DBE5B045EC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F0B36FF1-3152-386E-C2FB-BCD1EC957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473"/>
            <a:ext cx="12192000" cy="655779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E0580CDB-1918-E3F9-26FD-9AAD80FB6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956" y="0"/>
            <a:ext cx="5834937" cy="7033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04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BF662-8660-5DC9-93F0-C4DE41EE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Tests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8ED5A1B-14B1-6147-2FFC-D2C957912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195079"/>
            <a:ext cx="10580687" cy="462975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 dirty="0"/>
              <a:t>Prüft zur Laufzeit, ob ein bestimmter </a:t>
            </a:r>
            <a:r>
              <a:rPr lang="de-DE" sz="1800" dirty="0">
                <a:solidFill>
                  <a:srgbClr val="FF0000"/>
                </a:solidFill>
              </a:rPr>
              <a:t>Fehler</a:t>
            </a:r>
            <a:r>
              <a:rPr lang="de-DE" sz="1800" dirty="0"/>
              <a:t> auftrat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Geben die Abweichung vom </a:t>
            </a:r>
            <a:r>
              <a:rPr lang="de-DE" sz="1800" dirty="0">
                <a:solidFill>
                  <a:srgbClr val="00B050"/>
                </a:solidFill>
              </a:rPr>
              <a:t>Sollzustand</a:t>
            </a:r>
            <a:r>
              <a:rPr lang="de-DE" sz="1800" dirty="0"/>
              <a:t> an. 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Geben nicht die </a:t>
            </a:r>
            <a:r>
              <a:rPr lang="de-DE" sz="1800" dirty="0">
                <a:solidFill>
                  <a:srgbClr val="FF0000"/>
                </a:solidFill>
              </a:rPr>
              <a:t>Ursache</a:t>
            </a:r>
            <a:r>
              <a:rPr lang="de-DE" sz="1800" dirty="0"/>
              <a:t> an (</a:t>
            </a:r>
            <a:r>
              <a:rPr lang="de-DE" sz="1800"/>
              <a:t>Sie weißen drauf hin)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Jeder Test sollte eine </a:t>
            </a:r>
            <a:r>
              <a:rPr lang="de-DE" sz="1800" dirty="0">
                <a:solidFill>
                  <a:srgbClr val="00B0F0"/>
                </a:solidFill>
              </a:rPr>
              <a:t>Fehler-Message</a:t>
            </a:r>
            <a:r>
              <a:rPr lang="de-DE" sz="1800" dirty="0"/>
              <a:t> besitzen</a:t>
            </a:r>
          </a:p>
          <a:p>
            <a:pPr>
              <a:lnSpc>
                <a:spcPct val="150000"/>
              </a:lnSpc>
            </a:pPr>
            <a:endParaRPr lang="en-DE" sz="1800" dirty="0"/>
          </a:p>
        </p:txBody>
      </p:sp>
      <p:pic>
        <p:nvPicPr>
          <p:cNvPr id="5" name="Grafik 4" descr="Klemmbrett gemischt mit einfarbiger Füllung">
            <a:extLst>
              <a:ext uri="{FF2B5EF4-FFF2-40B4-BE49-F238E27FC236}">
                <a16:creationId xmlns:a16="http://schemas.microsoft.com/office/drawing/2014/main" id="{A8CD9951-28F6-4182-3145-A578340F9A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83774" y="622497"/>
            <a:ext cx="2268201" cy="2268201"/>
          </a:xfrm>
          <a:prstGeom prst="rect">
            <a:avLst/>
          </a:prstGeom>
        </p:spPr>
      </p:pic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8AC59CC-E201-BFE3-A631-96A25F338993}"/>
              </a:ext>
            </a:extLst>
          </p:cNvPr>
          <p:cNvSpPr txBox="1">
            <a:spLocks/>
          </p:cNvSpPr>
          <p:nvPr/>
        </p:nvSpPr>
        <p:spPr>
          <a:xfrm>
            <a:off x="874712" y="3394720"/>
            <a:ext cx="10580687" cy="226820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 algn="l" defTabSz="914269" rtl="0" eaLnBrk="1" latinLnBrk="0" hangingPunct="1">
              <a:spcBef>
                <a:spcPts val="600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269" rtl="0" eaLnBrk="1" latinLnBrk="0" hangingPunct="1">
              <a:spcBef>
                <a:spcPts val="600"/>
              </a:spcBef>
              <a:buFont typeface="Open Sans" panose="020B0606030504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252000" indent="-252000" algn="l" defTabSz="914269" rtl="0" eaLnBrk="1" latinLnBrk="0" hangingPunct="1">
              <a:spcBef>
                <a:spcPts val="0"/>
              </a:spcBef>
              <a:buFont typeface="Arial" panose="020B0604020202020204" pitchFamily="34" charset="0"/>
              <a:buChar char="—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252000" indent="-144000" algn="l" defTabSz="914269" rtl="0" eaLnBrk="1" latinLnBrk="0" hangingPunct="1">
              <a:spcBef>
                <a:spcPts val="0"/>
              </a:spcBef>
              <a:buFont typeface="Open Sans" panose="020B0606030504020204" pitchFamily="34" charset="0"/>
              <a:buChar char="–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269" rtl="0" eaLnBrk="1" latinLnBrk="0" hangingPunct="1">
              <a:spcBef>
                <a:spcPts val="600"/>
              </a:spcBef>
              <a:spcAft>
                <a:spcPts val="0"/>
              </a:spcAft>
              <a:buFont typeface="Symbol" panose="05050102010706020507" pitchFamily="18" charset="2"/>
              <a:buNone/>
              <a:defRPr sz="1400" b="1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0" marR="0" indent="0" algn="l" defTabSz="914269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252000" marR="0" indent="-252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—"/>
              <a:tabLst/>
              <a:defRPr lang="de-DE" sz="1400" kern="1200" dirty="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52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Open Sans" panose="020B0606030504020204" pitchFamily="34" charset="0"/>
              <a:buChar char="–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396000" marR="0" indent="-144000" algn="l" defTabSz="9142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de-DE" sz="2400"/>
              <a:t>Einordnung von Tests:</a:t>
            </a:r>
          </a:p>
          <a:p>
            <a:r>
              <a:rPr lang="de-DE" sz="1800"/>
              <a:t>Nach „Stufen“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Unit-Test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Integration-Test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System-Test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Abnahme-Test</a:t>
            </a:r>
          </a:p>
          <a:p>
            <a:r>
              <a:rPr lang="de-DE" sz="1800"/>
              <a:t>   (Siehe V-Modell)</a:t>
            </a:r>
          </a:p>
          <a:p>
            <a:endParaRPr lang="de-DE" sz="1800"/>
          </a:p>
          <a:p>
            <a:endParaRPr lang="de-DE" sz="1800"/>
          </a:p>
          <a:p>
            <a:endParaRPr lang="en-DE" sz="180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971708C-3D1F-F852-FB6E-80472217301E}"/>
              </a:ext>
            </a:extLst>
          </p:cNvPr>
          <p:cNvSpPr txBox="1"/>
          <p:nvPr/>
        </p:nvSpPr>
        <p:spPr>
          <a:xfrm>
            <a:off x="3188986" y="3793511"/>
            <a:ext cx="25882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>
                <a:solidFill>
                  <a:srgbClr val="002060"/>
                </a:solidFill>
              </a:rPr>
              <a:t>Nach „Akteur“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Manuel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Automatisch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6702232-58EE-AFF6-8F54-DB19E681C6B8}"/>
              </a:ext>
            </a:extLst>
          </p:cNvPr>
          <p:cNvSpPr txBox="1"/>
          <p:nvPr/>
        </p:nvSpPr>
        <p:spPr>
          <a:xfrm>
            <a:off x="9123735" y="3793511"/>
            <a:ext cx="258827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>
                <a:solidFill>
                  <a:srgbClr val="002060"/>
                </a:solidFill>
              </a:rPr>
              <a:t>Nach „Wissen“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White-Box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Gray-Box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Black-Box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CE316EF-2B92-3CB7-AA35-3A5EA6D1C663}"/>
              </a:ext>
            </a:extLst>
          </p:cNvPr>
          <p:cNvSpPr txBox="1"/>
          <p:nvPr/>
        </p:nvSpPr>
        <p:spPr>
          <a:xfrm>
            <a:off x="5777263" y="3793511"/>
            <a:ext cx="28821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1800" b="1">
                <a:solidFill>
                  <a:srgbClr val="002060"/>
                </a:solidFill>
              </a:rPr>
              <a:t>Nach 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Funktional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Nicht funktional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Änderungsbezogen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 b="1">
                <a:solidFill>
                  <a:srgbClr val="002060"/>
                </a:solidFill>
              </a:rPr>
              <a:t>White-Box</a:t>
            </a:r>
          </a:p>
          <a:p>
            <a:r>
              <a:rPr lang="de-DE" sz="1800" b="1">
                <a:solidFill>
                  <a:srgbClr val="002060"/>
                </a:solidFill>
              </a:rPr>
              <a:t>     (nach [5])</a:t>
            </a:r>
          </a:p>
          <a:p>
            <a:endParaRPr lang="de-DE" sz="18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10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9C0D65-ADC5-C751-0108-51EE1EF6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Tests können mehr als public testen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2DBBC3-23AD-7473-E38E-DB3D8156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/>
              <a:t>Gängige Praxis:</a:t>
            </a:r>
          </a:p>
          <a:p>
            <a:r>
              <a:rPr lang="de-DE" sz="1800"/>
              <a:t>Klassen in: src.</a:t>
            </a:r>
            <a:r>
              <a:rPr lang="de-DE" sz="1800">
                <a:solidFill>
                  <a:srgbClr val="00B0F0"/>
                </a:solidFill>
              </a:rPr>
              <a:t>project.section.</a:t>
            </a:r>
            <a:r>
              <a:rPr lang="de-DE" sz="1800">
                <a:solidFill>
                  <a:srgbClr val="FF0000"/>
                </a:solidFill>
              </a:rPr>
              <a:t>MeineKlasse.java</a:t>
            </a:r>
          </a:p>
          <a:p>
            <a:r>
              <a:rPr lang="de-DE" sz="1800"/>
              <a:t>Tests in:    test.</a:t>
            </a:r>
            <a:r>
              <a:rPr lang="de-DE" sz="1800">
                <a:solidFill>
                  <a:srgbClr val="00B0F0"/>
                </a:solidFill>
              </a:rPr>
              <a:t>project.section.</a:t>
            </a:r>
            <a:r>
              <a:rPr lang="de-DE" sz="1800">
                <a:solidFill>
                  <a:srgbClr val="92D050"/>
                </a:solidFill>
              </a:rPr>
              <a:t>MeineKlasseTest.java</a:t>
            </a:r>
          </a:p>
          <a:p>
            <a:endParaRPr lang="de-DE" sz="1800"/>
          </a:p>
          <a:p>
            <a:r>
              <a:rPr lang="de-DE" sz="1800"/>
              <a:t>Beide Klassen sind im package </a:t>
            </a:r>
            <a:r>
              <a:rPr lang="de-DE" sz="1800">
                <a:solidFill>
                  <a:srgbClr val="00B0F0"/>
                </a:solidFill>
              </a:rPr>
              <a:t>project.section</a:t>
            </a:r>
            <a:endParaRPr lang="de-DE" sz="1800"/>
          </a:p>
          <a:p>
            <a:r>
              <a:rPr lang="de-DE" sz="1800"/>
              <a:t>Dadurch hat </a:t>
            </a:r>
            <a:r>
              <a:rPr lang="de-DE" sz="1800">
                <a:solidFill>
                  <a:srgbClr val="92D050"/>
                </a:solidFill>
              </a:rPr>
              <a:t>MeineKlasseTest.java</a:t>
            </a:r>
            <a:r>
              <a:rPr lang="de-DE" sz="1800"/>
              <a:t> auf alle </a:t>
            </a:r>
            <a:r>
              <a:rPr lang="de-DE" sz="1800" i="1"/>
              <a:t>public</a:t>
            </a:r>
            <a:r>
              <a:rPr lang="de-DE" sz="1800"/>
              <a:t>, </a:t>
            </a:r>
            <a:r>
              <a:rPr lang="de-DE" sz="1800" i="1"/>
              <a:t>package</a:t>
            </a:r>
            <a:r>
              <a:rPr lang="de-DE" sz="1800"/>
              <a:t> und </a:t>
            </a:r>
            <a:r>
              <a:rPr lang="de-DE" sz="1800" i="1"/>
              <a:t>protected</a:t>
            </a:r>
            <a:r>
              <a:rPr lang="de-DE" sz="1800"/>
              <a:t> Methoden/Attribute Zugriff</a:t>
            </a:r>
            <a:endParaRPr lang="en-DE" sz="18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49E8222-3C16-68FD-0562-DBF2D43C9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31" y="4095405"/>
            <a:ext cx="5377025" cy="163121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package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de.oliver.structure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lang="de-DE" altLang="en-DE" sz="1200">
                <a:solidFill>
                  <a:srgbClr val="CC7832"/>
                </a:solidFill>
                <a:latin typeface="JetBrains Mono"/>
              </a:rPr>
              <a:t>... 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public abstract class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Arbeitsplatz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&lt;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JetBrains Mono"/>
              </a:rPr>
              <a:t>T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extends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Person&gt;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implements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Verschmutzbar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protected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507874"/>
                </a:solidFill>
                <a:effectLst/>
                <a:latin typeface="JetBrains Mono"/>
              </a:rPr>
              <a:t>T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nutzer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protected double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verschmutzung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endParaRPr kumimoji="0" lang="en-DE" altLang="en-DE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D43128-8392-13B8-15A9-C8AF45C31F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9388" y="3683717"/>
            <a:ext cx="6095043" cy="2292935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package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de.oliver.structure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de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… 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import static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org.junit.jupiter.api.Assertions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.*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class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ArbeitsplatzTest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{</a:t>
            </a:r>
            <a:endParaRPr kumimoji="0" lang="de-DE" altLang="en-DE" sz="1200" b="0" i="0" u="none" strike="noStrike" cap="none" normalizeH="0" baseline="0">
              <a:ln>
                <a:noFill/>
              </a:ln>
              <a:solidFill>
                <a:srgbClr val="A9B7C6"/>
              </a:solidFill>
              <a:effectLst/>
              <a:latin typeface="JetBrains Mono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de-DE" altLang="en-DE" sz="1200">
              <a:solidFill>
                <a:srgbClr val="A9B7C6"/>
              </a:solidFill>
              <a:latin typeface="JetBrains Mono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JetBrains Mono"/>
              </a:rPr>
              <a:t>@Test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BBB529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void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FFC66D"/>
                </a:solidFill>
                <a:effectLst/>
                <a:latin typeface="JetBrains Mono"/>
              </a:rPr>
              <a:t>isDreckigTrue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(){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</a:t>
            </a:r>
            <a:r>
              <a:rPr kumimoji="0" lang="en-DE" altLang="en-DE" sz="1200" b="0" i="1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assertFalse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arbeitsplatz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.isDreckig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,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"Am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Anfang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darf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es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nicht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dreckig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6A8759"/>
                </a:solidFill>
                <a:effectLst/>
                <a:latin typeface="JetBrains Mono"/>
              </a:rPr>
              <a:t> sein"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)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var 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t =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arbeitsplatz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verschmutzung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b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arbeitsplatz</a:t>
            </a:r>
            <a:r>
              <a:rPr kumimoji="0" lang="en-DE" altLang="en-DE" sz="1200" b="0" i="0" u="none" strike="noStrike" cap="none" normalizeH="0" baseline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.verschmutzen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()</a:t>
            </a:r>
            <a:r>
              <a:rPr kumimoji="0" lang="en-DE" altLang="en-DE" sz="1200" b="0" i="0" u="none" strike="noStrike" cap="none" normalizeH="0" baseline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;</a:t>
            </a:r>
            <a:endParaRPr kumimoji="0" lang="en-DE" altLang="en-DE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en-DE" sz="1200" b="0" i="0" u="none" strike="noStrike" cap="none" normalizeH="0" baseline="0">
              <a:ln>
                <a:noFill/>
              </a:ln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1538224689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9C0D65-ADC5-C751-0108-51EE1EF69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Tests müssen </a:t>
            </a:r>
            <a:r>
              <a:rPr lang="de-DE" u="sng"/>
              <a:t>nicht</a:t>
            </a:r>
            <a:r>
              <a:rPr lang="de-DE"/>
              <a:t> private testen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2DBBC3-23AD-7473-E38E-DB3D815614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i="1"/>
              <a:t>Private</a:t>
            </a:r>
            <a:r>
              <a:rPr lang="de-DE" sz="1800"/>
              <a:t> steuert das innere Verhalten des Objektes. Es ist für alle anderen unwichtig.</a:t>
            </a:r>
          </a:p>
          <a:p>
            <a:pPr>
              <a:lnSpc>
                <a:spcPct val="150000"/>
              </a:lnSpc>
            </a:pPr>
            <a:r>
              <a:rPr lang="de-DE" sz="1800" i="1"/>
              <a:t>Private</a:t>
            </a:r>
            <a:r>
              <a:rPr lang="de-DE" sz="1800"/>
              <a:t> Methoden sollen helfen, das äußere Verhalten zu erreichen.</a:t>
            </a:r>
          </a:p>
          <a:p>
            <a:pPr>
              <a:lnSpc>
                <a:spcPct val="150000"/>
              </a:lnSpc>
            </a:pPr>
            <a:r>
              <a:rPr lang="de-DE" sz="1800" i="1"/>
              <a:t>Private</a:t>
            </a:r>
            <a:r>
              <a:rPr lang="de-DE" sz="1800"/>
              <a:t> Methoden werden durch nicht private Methoden aufgerufen</a:t>
            </a:r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r>
              <a:rPr lang="de-DE" sz="1800"/>
              <a:t>Wenn </a:t>
            </a:r>
            <a:r>
              <a:rPr lang="de-DE" sz="1800" i="1"/>
              <a:t>private</a:t>
            </a:r>
            <a:r>
              <a:rPr lang="de-DE" sz="1800"/>
              <a:t> explizit getestet werden muss, dann ist es oft schlechtes Design!</a:t>
            </a:r>
          </a:p>
          <a:p>
            <a:pPr>
              <a:lnSpc>
                <a:spcPct val="150000"/>
              </a:lnSpc>
            </a:pPr>
            <a:r>
              <a:rPr lang="de-DE" sz="1800"/>
              <a:t>Reflection erlaubt das Testen der privaten Methoden, aber es sollte sparsam eingesetzt werden.</a:t>
            </a:r>
          </a:p>
          <a:p>
            <a:pPr>
              <a:lnSpc>
                <a:spcPct val="150000"/>
              </a:lnSpc>
            </a:pPr>
            <a:endParaRPr lang="de-DE" sz="1800"/>
          </a:p>
        </p:txBody>
      </p:sp>
    </p:spTree>
    <p:extLst>
      <p:ext uri="{BB962C8B-B14F-4D97-AF65-F5344CB8AC3E}">
        <p14:creationId xmlns:p14="http://schemas.microsoft.com/office/powerpoint/2010/main" val="212868651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811475-70A1-43B1-8AAF-7E375B26B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JUNIT 5.11.0 [4] – Neue Features ab 5.0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F4D629-4EAE-4227-86E1-09E265A8C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000" dirty="0" err="1"/>
              <a:t>assertX</a:t>
            </a:r>
            <a:r>
              <a:rPr lang="de-DE" sz="2000" dirty="0"/>
              <a:t>(</a:t>
            </a:r>
            <a:r>
              <a:rPr lang="de-DE" sz="2000" dirty="0">
                <a:solidFill>
                  <a:srgbClr val="00B050"/>
                </a:solidFill>
              </a:rPr>
              <a:t>Sollwert</a:t>
            </a:r>
            <a:r>
              <a:rPr lang="de-DE" sz="2000" dirty="0">
                <a:solidFill>
                  <a:srgbClr val="002060"/>
                </a:solidFill>
              </a:rPr>
              <a:t>,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dirty="0">
                <a:solidFill>
                  <a:srgbClr val="FF0000"/>
                </a:solidFill>
              </a:rPr>
              <a:t>Istwert</a:t>
            </a:r>
            <a:r>
              <a:rPr lang="de-DE" sz="2000" dirty="0">
                <a:solidFill>
                  <a:srgbClr val="002060"/>
                </a:solidFill>
              </a:rPr>
              <a:t>,</a:t>
            </a:r>
            <a:r>
              <a:rPr lang="de-DE" sz="20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de-DE" sz="2000" dirty="0">
                <a:solidFill>
                  <a:srgbClr val="00B0F0"/>
                </a:solidFill>
              </a:rPr>
              <a:t>„Nachricht bei Fehler“</a:t>
            </a:r>
            <a:r>
              <a:rPr lang="de-DE" sz="2000" dirty="0">
                <a:solidFill>
                  <a:srgbClr val="002060"/>
                </a:solidFill>
              </a:rPr>
              <a:t>)</a:t>
            </a:r>
          </a:p>
          <a:p>
            <a:r>
              <a:rPr lang="de-DE" sz="1800" dirty="0" err="1"/>
              <a:t>assertAll</a:t>
            </a:r>
            <a:r>
              <a:rPr lang="de-DE" sz="1800" dirty="0"/>
              <a:t> – alle enthaltenen </a:t>
            </a:r>
            <a:r>
              <a:rPr lang="de-DE" sz="1800" dirty="0" err="1"/>
              <a:t>assertX</a:t>
            </a:r>
            <a:r>
              <a:rPr lang="de-DE" sz="1800" dirty="0"/>
              <a:t> werden ausgeführt und zusammen ausgegeben.</a:t>
            </a:r>
          </a:p>
          <a:p>
            <a:r>
              <a:rPr lang="de-DE" sz="1800" dirty="0" err="1"/>
              <a:t>assertThrows</a:t>
            </a:r>
            <a:r>
              <a:rPr lang="de-DE" sz="1800" dirty="0"/>
              <a:t> – prüft ob eine Exception geworfen wird; Alternative zu Try-catch</a:t>
            </a:r>
          </a:p>
          <a:p>
            <a:r>
              <a:rPr lang="de-DE" sz="1800" dirty="0" err="1"/>
              <a:t>assertTimeOut</a:t>
            </a:r>
            <a:r>
              <a:rPr lang="de-DE" sz="1800" dirty="0"/>
              <a:t> – Muss innerhalb einer Zeit ausgeführt sein</a:t>
            </a:r>
          </a:p>
          <a:p>
            <a:r>
              <a:rPr lang="de-DE" sz="1800" dirty="0" err="1"/>
              <a:t>assertInstanceOf</a:t>
            </a:r>
            <a:r>
              <a:rPr lang="de-DE" sz="1800" dirty="0"/>
              <a:t> – Äquivalent zu </a:t>
            </a:r>
            <a:r>
              <a:rPr lang="de-DE" sz="1800" dirty="0" err="1"/>
              <a:t>instanceof</a:t>
            </a:r>
            <a:r>
              <a:rPr lang="de-DE" sz="1800" dirty="0"/>
              <a:t> - </a:t>
            </a:r>
            <a:r>
              <a:rPr lang="de-DE" sz="1800" dirty="0" err="1"/>
              <a:t>Keywod</a:t>
            </a:r>
            <a:endParaRPr lang="de-DE" sz="1800" dirty="0"/>
          </a:p>
          <a:p>
            <a:endParaRPr lang="de-DE" sz="1800" dirty="0"/>
          </a:p>
          <a:p>
            <a:r>
              <a:rPr lang="de-DE" sz="1800" dirty="0"/>
              <a:t>Liste der Annotationen: </a:t>
            </a:r>
            <a:r>
              <a:rPr lang="de-DE" dirty="0">
                <a:hlinkClick r:id="rId3"/>
              </a:rPr>
              <a:t>https://junit.org/junit5/docs/current/user-guide/#writing-tests-annotations</a:t>
            </a:r>
            <a:r>
              <a:rPr lang="de-DE" dirty="0"/>
              <a:t>   </a:t>
            </a:r>
          </a:p>
          <a:p>
            <a:pPr lvl="2"/>
            <a:r>
              <a:rPr lang="de-DE" sz="1800" dirty="0"/>
              <a:t> @ParameterizedTest – „Template“ für viele Testfälle, </a:t>
            </a:r>
          </a:p>
          <a:p>
            <a:pPr lvl="2"/>
            <a:r>
              <a:rPr lang="de-DE" sz="1800" dirty="0"/>
              <a:t> @DisplayName – Name im Testergebnis</a:t>
            </a:r>
          </a:p>
          <a:p>
            <a:pPr lvl="2"/>
            <a:r>
              <a:rPr lang="de-DE" sz="1800" dirty="0"/>
              <a:t> @RepeatedTest – Wiederholt einen Test n-Mal </a:t>
            </a:r>
          </a:p>
          <a:p>
            <a:pPr lvl="2"/>
            <a:r>
              <a:rPr lang="de-DE" sz="1800" dirty="0"/>
              <a:t> @Timeout – Ein Test schlägt nach einer bestimmten Zeit fehl</a:t>
            </a:r>
          </a:p>
          <a:p>
            <a:pPr lvl="2"/>
            <a:r>
              <a:rPr lang="de-DE" sz="1800" dirty="0"/>
              <a:t> @Execution – Tests werden Parallel oder Sequenziell ausgeführt</a:t>
            </a:r>
          </a:p>
          <a:p>
            <a:endParaRPr lang="de-DE" sz="1800" dirty="0"/>
          </a:p>
          <a:p>
            <a:endParaRPr lang="de-DE" sz="1800" dirty="0"/>
          </a:p>
          <a:p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3451812062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AD601D-8730-4DB3-ACAC-4C5F7A087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Tests in einer IDE 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DE73DE-8C66-4136-96D1-1CAD290B4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475525"/>
            <a:ext cx="10580687" cy="43608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IDEs haben integrierte Test-Umgebungen</a:t>
            </a:r>
          </a:p>
          <a:p>
            <a:pPr>
              <a:lnSpc>
                <a:spcPct val="150000"/>
              </a:lnSpc>
            </a:pPr>
            <a:r>
              <a:rPr lang="de-DE" sz="1800"/>
              <a:t>Liefern Übersicht der Ergebnisse</a:t>
            </a:r>
          </a:p>
          <a:p>
            <a:pPr>
              <a:lnSpc>
                <a:spcPct val="150000"/>
              </a:lnSpc>
            </a:pPr>
            <a:r>
              <a:rPr lang="de-DE" sz="1800"/>
              <a:t>Können Tests automatisch starten</a:t>
            </a:r>
            <a:endParaRPr lang="en-DE" sz="1800"/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7C95C4F6-BC58-738A-E706-3C21504D0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2091" y="181786"/>
            <a:ext cx="4093307" cy="4869163"/>
          </a:xfrm>
          <a:prstGeom prst="rect">
            <a:avLst/>
          </a:prstGeom>
        </p:spPr>
      </p:pic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8A2DB33F-AA02-CB66-5B92-DDD2D2BEA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255" y="5050949"/>
            <a:ext cx="8664778" cy="111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44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5A64C2-8CA6-4753-875A-A4D32567B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1050" y="925417"/>
            <a:ext cx="5045726" cy="5809767"/>
          </a:xfrm>
        </p:spPr>
        <p:txBody>
          <a:bodyPr>
            <a:normAutofit/>
          </a:bodyPr>
          <a:lstStyle/>
          <a:p>
            <a:pPr marL="72000" algn="r"/>
            <a:r>
              <a:rPr lang="de-DE"/>
              <a:t>		           Test ist erfolgreich. </a:t>
            </a:r>
          </a:p>
          <a:p>
            <a:pPr marL="72000" algn="r"/>
            <a:r>
              <a:rPr lang="de-DE"/>
              <a:t>		               	     Keine Fehler. </a:t>
            </a:r>
          </a:p>
          <a:p>
            <a:pPr marL="72000" algn="r"/>
            <a:endParaRPr lang="de-DE" sz="900"/>
          </a:p>
          <a:p>
            <a:pPr marL="72000" algn="r"/>
            <a:r>
              <a:rPr lang="de-DE"/>
              <a:t>		   Test ist fehlgeschlagen. </a:t>
            </a:r>
          </a:p>
          <a:p>
            <a:pPr marL="72000" indent="0" algn="r">
              <a:buNone/>
            </a:pPr>
            <a:r>
              <a:rPr lang="de-DE"/>
              <a:t>     		    Ergebnis stimmt nicht. </a:t>
            </a:r>
          </a:p>
          <a:p>
            <a:pPr marL="72000" algn="r"/>
            <a:endParaRPr lang="de-DE" sz="1000"/>
          </a:p>
          <a:p>
            <a:pPr marL="72000" algn="r"/>
            <a:r>
              <a:rPr lang="de-DE"/>
              <a:t>		   Test ist fehlgeschlagen. </a:t>
            </a:r>
          </a:p>
          <a:p>
            <a:pPr marL="72000" algn="r"/>
            <a:r>
              <a:rPr lang="de-DE"/>
              <a:t>	Explizit durch den Entwickler!</a:t>
            </a:r>
          </a:p>
          <a:p>
            <a:pPr marL="72000" algn="r"/>
            <a:endParaRPr lang="de-DE" sz="1200"/>
          </a:p>
          <a:p>
            <a:pPr marL="72000" algn="r"/>
            <a:r>
              <a:rPr lang="de-DE"/>
              <a:t>Der Test  wurde unerwartet unterbrochen. </a:t>
            </a:r>
          </a:p>
          <a:p>
            <a:pPr marL="72000" indent="0" algn="r">
              <a:spcBef>
                <a:spcPts val="600"/>
              </a:spcBef>
              <a:buNone/>
            </a:pPr>
            <a:r>
              <a:rPr lang="de-DE"/>
              <a:t>		   Eine Exception trat auf.</a:t>
            </a:r>
          </a:p>
          <a:p>
            <a:pPr marL="72000" indent="0" algn="r">
              <a:buNone/>
            </a:pPr>
            <a:endParaRPr lang="de-DE" sz="1100"/>
          </a:p>
          <a:p>
            <a:pPr marL="72000" algn="r"/>
            <a:r>
              <a:rPr lang="de-DE"/>
              <a:t>              Test wird als abgebrochen markiert</a:t>
            </a:r>
          </a:p>
          <a:p>
            <a:pPr marL="72000" indent="0" algn="r">
              <a:buNone/>
            </a:pPr>
            <a:endParaRPr lang="de-DE" sz="1400"/>
          </a:p>
          <a:p>
            <a:pPr marL="72000" indent="0" algn="r">
              <a:buNone/>
            </a:pPr>
            <a:endParaRPr lang="de-DE"/>
          </a:p>
          <a:p>
            <a:pPr marL="72000" algn="r"/>
            <a:r>
              <a:rPr lang="de-DE"/>
              <a:t>		       Test wurde ignoriert. </a:t>
            </a:r>
          </a:p>
        </p:txBody>
      </p:sp>
      <p:pic>
        <p:nvPicPr>
          <p:cNvPr id="5" name="Grafik 4" descr="Ein Bild, das Text enthält.&#10;&#10;Automatisch generierte Beschreibung">
            <a:extLst>
              <a:ext uri="{FF2B5EF4-FFF2-40B4-BE49-F238E27FC236}">
                <a16:creationId xmlns:a16="http://schemas.microsoft.com/office/drawing/2014/main" id="{6BCDD4DF-303E-53B1-4EAD-65153B3F12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5" t="-348" r="-587" b="348"/>
          <a:stretch/>
        </p:blipFill>
        <p:spPr>
          <a:xfrm>
            <a:off x="6026428" y="0"/>
            <a:ext cx="6165572" cy="6256387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87D1731-0A6F-9760-1E6F-806ED1AF3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577" y="281225"/>
            <a:ext cx="10580687" cy="684213"/>
          </a:xfrm>
        </p:spPr>
        <p:txBody>
          <a:bodyPr/>
          <a:lstStyle/>
          <a:p>
            <a:r>
              <a:rPr lang="de-DE"/>
              <a:t>Arten von Testergebnissen</a:t>
            </a:r>
            <a:br>
              <a:rPr lang="en-DE"/>
            </a:b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93059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 descr="Ein Bild, das Text enthält.&#10;&#10;Automatisch generierte Beschreibung">
            <a:extLst>
              <a:ext uri="{FF2B5EF4-FFF2-40B4-BE49-F238E27FC236}">
                <a16:creationId xmlns:a16="http://schemas.microsoft.com/office/drawing/2014/main" id="{F77AE6D9-8BDB-4DE2-B680-30E3F6A70E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2338"/>
            <a:ext cx="11061017" cy="3159456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7BB22903-7567-4004-AA7E-EDFFFBCD96B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5" t="-348" r="-587" b="348"/>
          <a:stretch/>
        </p:blipFill>
        <p:spPr>
          <a:xfrm>
            <a:off x="6026428" y="0"/>
            <a:ext cx="6165572" cy="6256387"/>
          </a:xfrm>
          <a:prstGeom prst="rect">
            <a:avLst/>
          </a:prstGeom>
        </p:spPr>
      </p:pic>
      <p:sp>
        <p:nvSpPr>
          <p:cNvPr id="5" name="Titel 6">
            <a:extLst>
              <a:ext uri="{FF2B5EF4-FFF2-40B4-BE49-F238E27FC236}">
                <a16:creationId xmlns:a16="http://schemas.microsoft.com/office/drawing/2014/main" id="{92641898-21CA-B5D8-DBC6-D114DB29A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8577" y="281225"/>
            <a:ext cx="10580687" cy="684213"/>
          </a:xfrm>
        </p:spPr>
        <p:txBody>
          <a:bodyPr/>
          <a:lstStyle/>
          <a:p>
            <a:r>
              <a:rPr lang="de-DE"/>
              <a:t>Arten von Testergebnissen</a:t>
            </a:r>
            <a:br>
              <a:rPr lang="en-DE"/>
            </a:br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7058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86249-4EAF-47CC-8A51-094DDE9C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Anforderungen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B4419B-D0E7-4681-BD00-FE4463A0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Maven</a:t>
            </a:r>
          </a:p>
          <a:p>
            <a:pPr>
              <a:lnSpc>
                <a:spcPct val="150000"/>
              </a:lnSpc>
            </a:pPr>
            <a:r>
              <a:rPr lang="de-DE" sz="1800"/>
              <a:t>Java 21</a:t>
            </a:r>
          </a:p>
          <a:p>
            <a:pPr>
              <a:lnSpc>
                <a:spcPct val="150000"/>
              </a:lnSpc>
            </a:pPr>
            <a:r>
              <a:rPr lang="de-DE" sz="1800"/>
              <a:t>Eine IDE wie Eclipse, IntelliJ, VS Code usw.</a:t>
            </a:r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r>
              <a:rPr lang="de-DE" sz="1800"/>
              <a:t>Download des Repos von GitHub</a:t>
            </a:r>
          </a:p>
          <a:p>
            <a:pPr>
              <a:lnSpc>
                <a:spcPct val="150000"/>
              </a:lnSpc>
            </a:pPr>
            <a:r>
              <a:rPr lang="de-DE" sz="1800"/>
              <a:t>Entweder lokaler Import oder direkt vom Server in die IDE</a:t>
            </a:r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endParaRPr lang="en-DE" sz="180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29991B8-2DC1-9309-2AF7-66BCFC6E0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7784" y="0"/>
            <a:ext cx="2954216" cy="295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614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9554B0-2AAD-4185-80B9-919F2F26F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Situation 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010C2E-BFE2-46ED-80DB-2F51766E7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Aus den ersten Übungen ist die Bibliothek bereits bekannt.</a:t>
            </a:r>
          </a:p>
          <a:p>
            <a:pPr>
              <a:lnSpc>
                <a:spcPct val="150000"/>
              </a:lnSpc>
            </a:pPr>
            <a:r>
              <a:rPr lang="de-DE" sz="1800"/>
              <a:t>Diese ist inzwischen zu einer großen Anwendung angewachsen.</a:t>
            </a:r>
          </a:p>
          <a:p>
            <a:pPr>
              <a:lnSpc>
                <a:spcPct val="150000"/>
              </a:lnSpc>
            </a:pPr>
            <a:r>
              <a:rPr lang="de-DE" sz="1800"/>
              <a:t>Es gibt Personal- und Besucher-Verwaltung sowie Leseräume.</a:t>
            </a:r>
          </a:p>
          <a:p>
            <a:pPr>
              <a:lnSpc>
                <a:spcPct val="150000"/>
              </a:lnSpc>
            </a:pPr>
            <a:endParaRPr lang="de-DE" sz="1800"/>
          </a:p>
          <a:p>
            <a:pPr>
              <a:lnSpc>
                <a:spcPct val="150000"/>
              </a:lnSpc>
            </a:pPr>
            <a:r>
              <a:rPr lang="de-DE" sz="1800"/>
              <a:t>Zwei SHKs haben diese Anwendung gebaut.</a:t>
            </a:r>
          </a:p>
          <a:p>
            <a:pPr>
              <a:lnSpc>
                <a:spcPct val="150000"/>
              </a:lnSpc>
            </a:pPr>
            <a:r>
              <a:rPr lang="de-DE" sz="1800"/>
              <a:t>Der eine hat die Tests, der andere den Quellcode geschrieben.</a:t>
            </a:r>
          </a:p>
          <a:p>
            <a:pPr>
              <a:lnSpc>
                <a:spcPct val="150000"/>
              </a:lnSpc>
            </a:pPr>
            <a:r>
              <a:rPr lang="de-DE" sz="1800"/>
              <a:t>Leider sind im Quellcode Fehler. Dies wurde durch die Tests herausgefunden.</a:t>
            </a:r>
          </a:p>
          <a:p>
            <a:pPr>
              <a:lnSpc>
                <a:spcPct val="150000"/>
              </a:lnSpc>
            </a:pPr>
            <a:r>
              <a:rPr lang="de-DE" sz="18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9840515"/>
      </p:ext>
    </p:extLst>
  </p:cSld>
  <p:clrMapOvr>
    <a:masterClrMapping/>
  </p:clrMapOvr>
  <p:transition spd="slow">
    <p:push dir="u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B86249-4EAF-47CC-8A51-094DDE9C1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Aufgabe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B4419B-D0E7-4681-BD00-FE4463A08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/>
              <a:t>Finden der Bugs im Projekt anhand der Tests und durch anwenden von Debugging. </a:t>
            </a:r>
          </a:p>
          <a:p>
            <a:r>
              <a:rPr lang="de-DE" sz="1800"/>
              <a:t>Hinweise: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Die Tests sind korrekt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Alle Stellen, die Features ab Java 8 haben, sind korrekt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Die neuen Features sollen Motivation sein, sich selbst mit neuen Features in Java zu beschäftigen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Weitere Information finden Sie im GitHub-Repository in der Datei </a:t>
            </a:r>
            <a:r>
              <a:rPr lang="de-DE" sz="1800" i="1"/>
              <a:t>readme.md</a:t>
            </a:r>
            <a:endParaRPr lang="de-DE" sz="1800"/>
          </a:p>
          <a:p>
            <a:endParaRPr lang="de-DE" sz="1800"/>
          </a:p>
          <a:p>
            <a:r>
              <a:rPr lang="de-DE" sz="1800"/>
              <a:t>2 Phasen: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/>
              <a:t>Mit Tests die Fehler eingrenzen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/>
              <a:t>Durch Debugging die fehlerhaften Stellen suchen und beheben </a:t>
            </a:r>
          </a:p>
          <a:p>
            <a:pPr marL="342900" indent="-342900">
              <a:buFont typeface="+mj-lt"/>
              <a:buAutoNum type="arabicPeriod"/>
            </a:pPr>
            <a:endParaRPr lang="de-DE" sz="1800"/>
          </a:p>
          <a:p>
            <a:endParaRPr lang="de-DE" sz="1800"/>
          </a:p>
          <a:p>
            <a:endParaRPr lang="de-DE" sz="1800"/>
          </a:p>
        </p:txBody>
      </p:sp>
    </p:spTree>
    <p:extLst>
      <p:ext uri="{BB962C8B-B14F-4D97-AF65-F5344CB8AC3E}">
        <p14:creationId xmlns:p14="http://schemas.microsoft.com/office/powerpoint/2010/main" val="723417310"/>
      </p:ext>
    </p:extLst>
  </p:cSld>
  <p:clrMapOvr>
    <a:masterClrMapping/>
  </p:clrMapOvr>
  <p:transition spd="slow">
    <p:push dir="u"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F9B0DF-50BF-4F41-AC5E-7895A2781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Elemente, die in Java 8+ neu sind  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225CC0-CF84-4DE7-9FB6-743D8E7D4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4712" y="1091170"/>
            <a:ext cx="10580687" cy="4360861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Var (Type </a:t>
            </a:r>
            <a:r>
              <a:rPr lang="de-DE" sz="1800" err="1"/>
              <a:t>Inference</a:t>
            </a:r>
            <a:r>
              <a:rPr lang="de-DE" sz="1800"/>
              <a:t>) – 10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Optional – 8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Stream – 8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Lambda – 8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Records – 14/16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Pattern matching </a:t>
            </a:r>
            <a:r>
              <a:rPr lang="de-DE" sz="1800" err="1"/>
              <a:t>for</a:t>
            </a:r>
            <a:r>
              <a:rPr lang="de-DE" sz="1800"/>
              <a:t> switch – 17/20+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Pattern matching </a:t>
            </a:r>
            <a:r>
              <a:rPr lang="de-DE" sz="1800" err="1"/>
              <a:t>for</a:t>
            </a:r>
            <a:r>
              <a:rPr lang="de-DE" sz="1800"/>
              <a:t> </a:t>
            </a:r>
            <a:r>
              <a:rPr lang="de-DE" sz="1800" err="1"/>
              <a:t>instanceof</a:t>
            </a:r>
            <a:r>
              <a:rPr lang="de-DE" sz="1800"/>
              <a:t> – 14/16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Enhanced Switch – 12/14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Switch-Expression – 12/14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de-DE" sz="1800"/>
              <a:t>Textblocks – 13/15</a:t>
            </a:r>
          </a:p>
        </p:txBody>
      </p:sp>
    </p:spTree>
    <p:extLst>
      <p:ext uri="{BB962C8B-B14F-4D97-AF65-F5344CB8AC3E}">
        <p14:creationId xmlns:p14="http://schemas.microsoft.com/office/powerpoint/2010/main" val="162552722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A6D85-D027-4F40-80C1-4378C02B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Klassendiagramm</a:t>
            </a:r>
            <a:endParaRPr lang="en-DE"/>
          </a:p>
        </p:txBody>
      </p:sp>
      <p:pic>
        <p:nvPicPr>
          <p:cNvPr id="4173" name="Grafik 4172">
            <a:extLst>
              <a:ext uri="{FF2B5EF4-FFF2-40B4-BE49-F238E27FC236}">
                <a16:creationId xmlns:a16="http://schemas.microsoft.com/office/drawing/2014/main" id="{3D0EF27C-A243-140A-E8EE-DEC68710E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8295" b="52771"/>
          <a:stretch/>
        </p:blipFill>
        <p:spPr>
          <a:xfrm>
            <a:off x="169498" y="779013"/>
            <a:ext cx="6886994" cy="498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8520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A6D85-D027-4F40-80C1-4378C02B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Klassendiagramm</a:t>
            </a:r>
            <a:endParaRPr lang="en-DE"/>
          </a:p>
        </p:txBody>
      </p:sp>
      <p:pic>
        <p:nvPicPr>
          <p:cNvPr id="4173" name="Grafik 4172">
            <a:extLst>
              <a:ext uri="{FF2B5EF4-FFF2-40B4-BE49-F238E27FC236}">
                <a16:creationId xmlns:a16="http://schemas.microsoft.com/office/drawing/2014/main" id="{3D0EF27C-A243-140A-E8EE-DEC68710E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977" r="29857" b="35070"/>
          <a:stretch/>
        </p:blipFill>
        <p:spPr>
          <a:xfrm>
            <a:off x="736601" y="954088"/>
            <a:ext cx="6520001" cy="4671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1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A6D85-D027-4F40-80C1-4378C02B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Klassendiagramm</a:t>
            </a:r>
            <a:endParaRPr lang="en-DE"/>
          </a:p>
        </p:txBody>
      </p:sp>
      <p:pic>
        <p:nvPicPr>
          <p:cNvPr id="4173" name="Grafik 4172">
            <a:extLst>
              <a:ext uri="{FF2B5EF4-FFF2-40B4-BE49-F238E27FC236}">
                <a16:creationId xmlns:a16="http://schemas.microsoft.com/office/drawing/2014/main" id="{3D0EF27C-A243-140A-E8EE-DEC68710E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5253" t="-93" r="139" b="35163"/>
          <a:stretch/>
        </p:blipFill>
        <p:spPr>
          <a:xfrm>
            <a:off x="1696720" y="735648"/>
            <a:ext cx="8432799" cy="526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4566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A6D85-D027-4F40-80C1-4378C02B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- Klassendiagramm</a:t>
            </a:r>
            <a:endParaRPr lang="en-DE"/>
          </a:p>
        </p:txBody>
      </p:sp>
      <p:pic>
        <p:nvPicPr>
          <p:cNvPr id="4173" name="Grafik 4172">
            <a:extLst>
              <a:ext uri="{FF2B5EF4-FFF2-40B4-BE49-F238E27FC236}">
                <a16:creationId xmlns:a16="http://schemas.microsoft.com/office/drawing/2014/main" id="{3D0EF27C-A243-140A-E8EE-DEC68710E1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517" t="29362" r="20653" b="905"/>
          <a:stretch/>
        </p:blipFill>
        <p:spPr>
          <a:xfrm>
            <a:off x="3428999" y="830958"/>
            <a:ext cx="5334001" cy="5196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66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493D1A-6653-4FA3-B6F7-E0FBEAEC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Die Bibliothek – Tests analysieren</a:t>
            </a:r>
            <a:endParaRPr lang="en-DE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2D6364FC-08A3-35F1-DEE8-CF102B43F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8790" y="919075"/>
            <a:ext cx="3410125" cy="2216264"/>
          </a:xfrm>
          <a:prstGeom prst="rect">
            <a:avLst/>
          </a:prstGeom>
        </p:spPr>
      </p:pic>
      <p:pic>
        <p:nvPicPr>
          <p:cNvPr id="9" name="Grafik 8" descr="Ein Bild, das Text enthält.&#10;&#10;Automatisch generierte Beschreibung">
            <a:extLst>
              <a:ext uri="{FF2B5EF4-FFF2-40B4-BE49-F238E27FC236}">
                <a16:creationId xmlns:a16="http://schemas.microsoft.com/office/drawing/2014/main" id="{E01E7F2C-9B16-F5A1-267D-EF5DEE6999B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231" b="4482"/>
          <a:stretch/>
        </p:blipFill>
        <p:spPr>
          <a:xfrm>
            <a:off x="7858490" y="486109"/>
            <a:ext cx="3378374" cy="4201864"/>
          </a:xfrm>
          <a:prstGeom prst="rect">
            <a:avLst/>
          </a:prstGeom>
        </p:spPr>
      </p:pic>
      <p:pic>
        <p:nvPicPr>
          <p:cNvPr id="11" name="Grafik 10" descr="Ein Bild, das Text enthält.&#10;&#10;Automatisch generierte Beschreibung">
            <a:extLst>
              <a:ext uri="{FF2B5EF4-FFF2-40B4-BE49-F238E27FC236}">
                <a16:creationId xmlns:a16="http://schemas.microsoft.com/office/drawing/2014/main" id="{0FA7FE78-EC88-4485-898E-29DF2700CB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490" y="4745959"/>
            <a:ext cx="11075248" cy="1499569"/>
          </a:xfrm>
          <a:prstGeom prst="rect">
            <a:avLst/>
          </a:prstGeom>
        </p:spPr>
      </p:pic>
      <p:pic>
        <p:nvPicPr>
          <p:cNvPr id="15" name="Grafik 14" descr="Ein Bild, das Text enthält.&#10;&#10;Automatisch generierte Beschreibung">
            <a:extLst>
              <a:ext uri="{FF2B5EF4-FFF2-40B4-BE49-F238E27FC236}">
                <a16:creationId xmlns:a16="http://schemas.microsoft.com/office/drawing/2014/main" id="{B946CC8C-8883-F595-58D1-D2EE56954C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54" y="919574"/>
            <a:ext cx="6960425" cy="344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3275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85185E-6 L -0.29675 -0.00023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44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5E789-489A-4A8B-9D5C-695FCB84C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Lösung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32B2FF-83E2-417C-956B-53374CFAE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/>
              <a:t>Im „Lösung“-Branch sind die Lösungen zu finden. Diese sind mit Todo´s markiert. </a:t>
            </a:r>
          </a:p>
          <a:p>
            <a:endParaRPr lang="de-DE" sz="1800"/>
          </a:p>
          <a:p>
            <a:r>
              <a:rPr lang="de-DE" sz="1800"/>
              <a:t>19 Bugs können gefunden werden</a:t>
            </a:r>
          </a:p>
          <a:p>
            <a:endParaRPr lang="de-DE" sz="1800"/>
          </a:p>
          <a:p>
            <a:r>
              <a:rPr lang="de-DE" sz="1800"/>
              <a:t>Mögliches Refactoring: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Singleton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Abstrakte Klassen einfügen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State-Pattern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800"/>
              <a:t>Observer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1800"/>
          </a:p>
        </p:txBody>
      </p:sp>
    </p:spTree>
    <p:extLst>
      <p:ext uri="{BB962C8B-B14F-4D97-AF65-F5344CB8AC3E}">
        <p14:creationId xmlns:p14="http://schemas.microsoft.com/office/powerpoint/2010/main" val="2735670719"/>
      </p:ext>
    </p:extLst>
  </p:cSld>
  <p:clrMapOvr>
    <a:masterClrMapping/>
  </p:clrMapOvr>
  <p:transition spd="slow">
    <p:push dir="u"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2B36E0-DE53-0320-1995-F4C574E08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7B284-7B38-C31D-0758-2C16E2FC4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9106" y="1956063"/>
            <a:ext cx="8491856" cy="1949634"/>
          </a:xfrm>
        </p:spPr>
        <p:txBody>
          <a:bodyPr/>
          <a:lstStyle/>
          <a:p>
            <a:pPr lvl="2">
              <a:lnSpc>
                <a:spcPct val="150000"/>
              </a:lnSpc>
            </a:pPr>
            <a:r>
              <a:rPr lang="de-DE" b="1" dirty="0"/>
              <a:t> Logging ist besser als </a:t>
            </a:r>
            <a:r>
              <a:rPr lang="de-DE" b="1" i="1" dirty="0" err="1"/>
              <a:t>printf</a:t>
            </a:r>
            <a:endParaRPr lang="de-DE" b="1" i="1" dirty="0"/>
          </a:p>
          <a:p>
            <a:pPr lvl="2">
              <a:lnSpc>
                <a:spcPct val="150000"/>
              </a:lnSpc>
            </a:pPr>
            <a:r>
              <a:rPr lang="de-DE" b="1" dirty="0"/>
              <a:t> Stack-Trace ist ein Freund</a:t>
            </a:r>
          </a:p>
          <a:p>
            <a:pPr lvl="2">
              <a:lnSpc>
                <a:spcPct val="150000"/>
              </a:lnSpc>
            </a:pPr>
            <a:r>
              <a:rPr lang="de-DE" b="1" dirty="0"/>
              <a:t> Man kann Programme anhalten und untersuchen, Breakpoints und mehr </a:t>
            </a:r>
          </a:p>
          <a:p>
            <a:pPr lvl="2">
              <a:lnSpc>
                <a:spcPct val="150000"/>
              </a:lnSpc>
            </a:pPr>
            <a:r>
              <a:rPr lang="de-DE" b="1" dirty="0"/>
              <a:t> Test machen das Entwickeln leichter</a:t>
            </a:r>
          </a:p>
          <a:p>
            <a:pPr lvl="2">
              <a:lnSpc>
                <a:spcPct val="150000"/>
              </a:lnSpc>
            </a:pPr>
            <a:r>
              <a:rPr lang="de-DE" b="1" dirty="0"/>
              <a:t> Es gibt viele Tools zum Debuggen</a:t>
            </a:r>
          </a:p>
          <a:p>
            <a:pPr>
              <a:lnSpc>
                <a:spcPct val="150000"/>
              </a:lnSpc>
            </a:pPr>
            <a:endParaRPr lang="de-DE" dirty="0"/>
          </a:p>
        </p:txBody>
      </p:sp>
      <p:pic>
        <p:nvPicPr>
          <p:cNvPr id="5" name="Grafik 4" descr="Ein Bild, das Text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E16FD23D-466E-BD2D-81C4-4A60A9C03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5722" y="54005"/>
            <a:ext cx="7971129" cy="1810797"/>
          </a:xfrm>
          <a:prstGeom prst="rect">
            <a:avLst/>
          </a:prstGeo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E49C8C7-DBDB-34A0-544C-4F349D85F2C9}"/>
              </a:ext>
            </a:extLst>
          </p:cNvPr>
          <p:cNvGrpSpPr>
            <a:grpSpLocks noChangeAspect="1"/>
          </p:cNvGrpSpPr>
          <p:nvPr/>
        </p:nvGrpSpPr>
        <p:grpSpPr>
          <a:xfrm>
            <a:off x="97526" y="898899"/>
            <a:ext cx="3308881" cy="2819376"/>
            <a:chOff x="189674" y="1695917"/>
            <a:chExt cx="5086407" cy="4333941"/>
          </a:xfrm>
        </p:grpSpPr>
        <p:pic>
          <p:nvPicPr>
            <p:cNvPr id="6" name="Grafik 5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03A314E5-1B70-3240-707D-4C725FA32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9674" y="3429000"/>
              <a:ext cx="5086407" cy="2600858"/>
            </a:xfrm>
            <a:prstGeom prst="rect">
              <a:avLst/>
            </a:prstGeom>
          </p:spPr>
        </p:pic>
        <p:pic>
          <p:nvPicPr>
            <p:cNvPr id="7" name="Grafik 6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5C7C40B7-41B3-E6E2-32AC-4930D811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09" t="56005" r="14770"/>
            <a:stretch>
              <a:fillRect/>
            </a:stretch>
          </p:blipFill>
          <p:spPr>
            <a:xfrm>
              <a:off x="197775" y="1695917"/>
              <a:ext cx="5070203" cy="1655368"/>
            </a:xfrm>
            <a:prstGeom prst="rect">
              <a:avLst/>
            </a:prstGeom>
          </p:spPr>
        </p:pic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C05AFD3-6DD1-C501-7C26-9682044D2993}"/>
              </a:ext>
            </a:extLst>
          </p:cNvPr>
          <p:cNvGrpSpPr/>
          <p:nvPr/>
        </p:nvGrpSpPr>
        <p:grpSpPr>
          <a:xfrm>
            <a:off x="7393172" y="1975772"/>
            <a:ext cx="4521845" cy="4828223"/>
            <a:chOff x="7393172" y="1975772"/>
            <a:chExt cx="4521845" cy="4828223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55F3FCC4-E71E-652F-A602-EB7A40B8B2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02040" y="1975772"/>
              <a:ext cx="1842503" cy="409445"/>
            </a:xfrm>
            <a:prstGeom prst="rect">
              <a:avLst/>
            </a:prstGeom>
          </p:spPr>
        </p:pic>
        <p:pic>
          <p:nvPicPr>
            <p:cNvPr id="10" name="Grafik 9" descr="Ein Bild, das Text, Erste Hilfe-Kasten enthält.&#10;&#10;Automatisch generierte Beschreibung">
              <a:extLst>
                <a:ext uri="{FF2B5EF4-FFF2-40B4-BE49-F238E27FC236}">
                  <a16:creationId xmlns:a16="http://schemas.microsoft.com/office/drawing/2014/main" id="{3772789B-BEC6-B21A-85E8-1AFA60DA23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676"/>
            <a:stretch/>
          </p:blipFill>
          <p:spPr>
            <a:xfrm>
              <a:off x="7393172" y="2003525"/>
              <a:ext cx="2176720" cy="524663"/>
            </a:xfrm>
            <a:prstGeom prst="rect">
              <a:avLst/>
            </a:prstGeom>
          </p:spPr>
        </p:pic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D5004D69-123B-E2D3-B07D-770DEF519AE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9324"/>
            <a:stretch/>
          </p:blipFill>
          <p:spPr>
            <a:xfrm>
              <a:off x="11544543" y="1993192"/>
              <a:ext cx="370474" cy="374604"/>
            </a:xfrm>
            <a:prstGeom prst="rect">
              <a:avLst/>
            </a:prstGeom>
          </p:spPr>
        </p:pic>
        <p:pic>
          <p:nvPicPr>
            <p:cNvPr id="12" name="Grafik 11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75516158-20A2-5A73-EAB9-063947D92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237"/>
            <a:stretch>
              <a:fillRect/>
            </a:stretch>
          </p:blipFill>
          <p:spPr>
            <a:xfrm>
              <a:off x="7551287" y="3023658"/>
              <a:ext cx="4363730" cy="1754993"/>
            </a:xfrm>
            <a:prstGeom prst="rect">
              <a:avLst/>
            </a:prstGeom>
          </p:spPr>
        </p:pic>
        <p:pic>
          <p:nvPicPr>
            <p:cNvPr id="13" name="Grafik 12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8FA8619E-6834-E168-ACC6-BB70C113D6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57"/>
            <a:stretch/>
          </p:blipFill>
          <p:spPr>
            <a:xfrm>
              <a:off x="8704522" y="4601780"/>
              <a:ext cx="2095052" cy="2202215"/>
            </a:xfrm>
            <a:prstGeom prst="rect">
              <a:avLst/>
            </a:prstGeom>
          </p:spPr>
        </p:pic>
      </p:grpSp>
      <p:pic>
        <p:nvPicPr>
          <p:cNvPr id="15" name="Grafik 14" descr="Ein Bild, das Text enthält.&#10;&#10;Automatisch generierte Beschreibung">
            <a:extLst>
              <a:ext uri="{FF2B5EF4-FFF2-40B4-BE49-F238E27FC236}">
                <a16:creationId xmlns:a16="http://schemas.microsoft.com/office/drawing/2014/main" id="{39A32E6F-E40A-2000-2E7B-1FAE89803C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248"/>
          <a:stretch>
            <a:fillRect/>
          </a:stretch>
        </p:blipFill>
        <p:spPr>
          <a:xfrm>
            <a:off x="4488238" y="3830952"/>
            <a:ext cx="2904934" cy="2533474"/>
          </a:xfrm>
          <a:prstGeom prst="rect">
            <a:avLst/>
          </a:prstGeom>
        </p:spPr>
      </p:pic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7855586E-1A79-FD1F-1FC8-17C5EC1ED123}"/>
              </a:ext>
            </a:extLst>
          </p:cNvPr>
          <p:cNvGrpSpPr/>
          <p:nvPr/>
        </p:nvGrpSpPr>
        <p:grpSpPr>
          <a:xfrm>
            <a:off x="10737" y="4136129"/>
            <a:ext cx="4319386" cy="2097370"/>
            <a:chOff x="10737" y="4136129"/>
            <a:chExt cx="4319386" cy="2097370"/>
          </a:xfrm>
        </p:grpSpPr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9911F5F4-FC88-E82F-1A9B-FC323DD235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34160" y="4136129"/>
              <a:ext cx="2895963" cy="1822972"/>
            </a:xfrm>
            <a:prstGeom prst="rect">
              <a:avLst/>
            </a:prstGeom>
          </p:spPr>
        </p:pic>
        <p:pic>
          <p:nvPicPr>
            <p:cNvPr id="17" name="Grafik 16" descr="Ein Bild, das Text enthält.&#10;&#10;Automatisch generierte Beschreibung">
              <a:extLst>
                <a:ext uri="{FF2B5EF4-FFF2-40B4-BE49-F238E27FC236}">
                  <a16:creationId xmlns:a16="http://schemas.microsoft.com/office/drawing/2014/main" id="{AE6FF0FB-FABE-5568-5694-A8980312F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639"/>
            <a:stretch>
              <a:fillRect/>
            </a:stretch>
          </p:blipFill>
          <p:spPr>
            <a:xfrm>
              <a:off x="10737" y="4982942"/>
              <a:ext cx="2557959" cy="12505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5960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3A0F6A-FACA-4207-A876-6CCEA3777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Fürs Selbststudium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3ECC84-BF4E-4C83-9719-C58676C27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Findet schlechte Ideen und verbessert Sie</a:t>
            </a:r>
          </a:p>
          <a:p>
            <a:pPr>
              <a:lnSpc>
                <a:spcPct val="150000"/>
              </a:lnSpc>
            </a:pPr>
            <a:r>
              <a:rPr lang="de-DE" sz="1800"/>
              <a:t>Nutzt SonarQube/SonarLint für Codequalität</a:t>
            </a:r>
            <a:endParaRPr lang="en-DE" sz="1800"/>
          </a:p>
          <a:p>
            <a:pPr>
              <a:lnSpc>
                <a:spcPct val="150000"/>
              </a:lnSpc>
            </a:pPr>
            <a:r>
              <a:rPr lang="de-DE" sz="1800"/>
              <a:t>Erweitert die Bibliothek</a:t>
            </a:r>
          </a:p>
          <a:p>
            <a:pPr lvl="1">
              <a:lnSpc>
                <a:spcPct val="150000"/>
              </a:lnSpc>
            </a:pPr>
            <a:r>
              <a:rPr lang="de-DE" sz="1800" b="1"/>
              <a:t>Nutzt TDD (Test-Driven-Development)</a:t>
            </a:r>
          </a:p>
          <a:p>
            <a:pPr>
              <a:lnSpc>
                <a:spcPct val="150000"/>
              </a:lnSpc>
            </a:pPr>
            <a:r>
              <a:rPr lang="de-DE" sz="1800"/>
              <a:t>Baut für Bücher das Interface Zerstörbar</a:t>
            </a:r>
          </a:p>
          <a:p>
            <a:pPr>
              <a:lnSpc>
                <a:spcPct val="150000"/>
              </a:lnSpc>
            </a:pPr>
            <a:r>
              <a:rPr lang="de-DE" sz="1800"/>
              <a:t>Baut bei ISBN die Prüfzifferkontrolle </a:t>
            </a:r>
          </a:p>
          <a:p>
            <a:pPr>
              <a:lnSpc>
                <a:spcPct val="150000"/>
              </a:lnSpc>
            </a:pPr>
            <a:r>
              <a:rPr lang="de-DE" sz="1800"/>
              <a:t>Nutzt Logging</a:t>
            </a:r>
          </a:p>
          <a:p>
            <a:pPr>
              <a:lnSpc>
                <a:spcPct val="150000"/>
              </a:lnSpc>
            </a:pPr>
            <a:r>
              <a:rPr lang="de-DE" sz="1800"/>
              <a:t>Baut Pattern ein</a:t>
            </a:r>
          </a:p>
          <a:p>
            <a:pPr>
              <a:lnSpc>
                <a:spcPct val="150000"/>
              </a:lnSpc>
            </a:pPr>
            <a:r>
              <a:rPr lang="de-DE" sz="1800"/>
              <a:t>Multithreading von piNaehern()</a:t>
            </a:r>
          </a:p>
        </p:txBody>
      </p:sp>
    </p:spTree>
    <p:extLst>
      <p:ext uri="{BB962C8B-B14F-4D97-AF65-F5344CB8AC3E}">
        <p14:creationId xmlns:p14="http://schemas.microsoft.com/office/powerpoint/2010/main" val="3389557850"/>
      </p:ext>
    </p:extLst>
  </p:cSld>
  <p:clrMapOvr>
    <a:masterClrMapping/>
  </p:clrMapOvr>
  <p:transition spd="slow">
    <p:push dir="u"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5E3818-DC53-6626-9F85-EE083088C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2" y="291367"/>
            <a:ext cx="10580687" cy="684213"/>
          </a:xfrm>
        </p:spPr>
        <p:txBody>
          <a:bodyPr/>
          <a:lstStyle/>
          <a:p>
            <a:r>
              <a:rPr lang="de-DE"/>
              <a:t>Literatur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BA0F3E-80F6-D0CB-63B1-A9C438CB5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942" y="640862"/>
            <a:ext cx="11439350" cy="4560277"/>
          </a:xfrm>
        </p:spPr>
        <p:txBody>
          <a:bodyPr/>
          <a:lstStyle/>
          <a:p>
            <a:r>
              <a:rPr lang="de-DE" sz="1800" dirty="0"/>
              <a:t>Java:</a:t>
            </a:r>
          </a:p>
          <a:p>
            <a:r>
              <a:rPr lang="de-DE" sz="1800" dirty="0"/>
              <a:t>[1] </a:t>
            </a:r>
            <a:r>
              <a:rPr lang="de-DE" sz="1800" dirty="0">
                <a:hlinkClick r:id="rId2"/>
              </a:rPr>
              <a:t>https://docs.oracle.com/en/java/javase/18/docs/api/index.html</a:t>
            </a:r>
            <a:r>
              <a:rPr lang="de-DE" sz="1800" dirty="0"/>
              <a:t>  - JavaDoc 18</a:t>
            </a:r>
          </a:p>
          <a:p>
            <a:r>
              <a:rPr lang="de-DE" sz="1800" dirty="0"/>
              <a:t>[2] </a:t>
            </a:r>
            <a:r>
              <a:rPr lang="de-DE" sz="1800" dirty="0">
                <a:hlinkClick r:id="rId3"/>
              </a:rPr>
              <a:t>https://docs.oracle.com/javase/specs/jls/se18/jls18.pdf</a:t>
            </a:r>
            <a:r>
              <a:rPr lang="de-DE" sz="1800" dirty="0"/>
              <a:t> - Java Language </a:t>
            </a:r>
            <a:r>
              <a:rPr lang="de-DE" sz="1800" dirty="0" err="1"/>
              <a:t>Specfication</a:t>
            </a:r>
            <a:endParaRPr lang="de-DE" sz="1800" dirty="0"/>
          </a:p>
          <a:p>
            <a:r>
              <a:rPr lang="de-DE" sz="1800" dirty="0"/>
              <a:t>[3] </a:t>
            </a:r>
            <a:r>
              <a:rPr lang="de-DE" sz="1800" dirty="0">
                <a:hlinkClick r:id="rId4"/>
              </a:rPr>
              <a:t>https://docs.oracle.com/javase/specs/jvms/se18/jvms18.pdf</a:t>
            </a:r>
            <a:r>
              <a:rPr lang="de-DE" sz="1800" dirty="0"/>
              <a:t> - Java VM </a:t>
            </a:r>
            <a:r>
              <a:rPr lang="de-DE" sz="1800" dirty="0" err="1"/>
              <a:t>Specification</a:t>
            </a:r>
            <a:endParaRPr lang="de-DE" sz="1800" dirty="0"/>
          </a:p>
          <a:p>
            <a:r>
              <a:rPr lang="de-DE" sz="1800" dirty="0"/>
              <a:t>[4] </a:t>
            </a:r>
            <a:r>
              <a:rPr lang="de-DE" sz="1800" dirty="0">
                <a:hlinkClick r:id="rId5"/>
              </a:rPr>
              <a:t>https://junit.org/junit5/docs/current/user-guide/</a:t>
            </a:r>
            <a:r>
              <a:rPr lang="de-DE" sz="1800" dirty="0"/>
              <a:t> - JUnit 5 User Guide</a:t>
            </a:r>
          </a:p>
          <a:p>
            <a:endParaRPr lang="de-DE" sz="1100" dirty="0"/>
          </a:p>
          <a:p>
            <a:r>
              <a:rPr lang="de-DE" sz="1800" dirty="0"/>
              <a:t>Testen:</a:t>
            </a:r>
          </a:p>
          <a:p>
            <a:r>
              <a:rPr lang="de-DE" sz="1800" dirty="0"/>
              <a:t>[5] </a:t>
            </a:r>
            <a:r>
              <a:rPr lang="de-DE" sz="1800" dirty="0">
                <a:hlinkClick r:id="rId6"/>
              </a:rPr>
              <a:t>https://www.german-testing-board.info/lehrplaene/istqbr-certified-tester-schema/entwicklungstester/</a:t>
            </a:r>
            <a:r>
              <a:rPr lang="de-DE" sz="1800" dirty="0"/>
              <a:t> - Lehrplan des ISTQB/GTB</a:t>
            </a:r>
          </a:p>
          <a:p>
            <a:r>
              <a:rPr lang="de-DE" sz="1800" dirty="0"/>
              <a:t>[6] </a:t>
            </a:r>
            <a:r>
              <a:rPr lang="de-DE" sz="1800" dirty="0">
                <a:hlinkClick r:id="rId7"/>
              </a:rPr>
              <a:t>https://ieeexplore.ieee.org/document/5399061</a:t>
            </a:r>
            <a:r>
              <a:rPr lang="de-DE" sz="1800" dirty="0"/>
              <a:t> - Klassifikation von Software Anomalien</a:t>
            </a:r>
          </a:p>
          <a:p>
            <a:endParaRPr lang="de-DE" sz="1100" dirty="0"/>
          </a:p>
          <a:p>
            <a:r>
              <a:rPr lang="de-DE" sz="1800" dirty="0"/>
              <a:t>Debugging:</a:t>
            </a:r>
          </a:p>
          <a:p>
            <a:r>
              <a:rPr lang="de-DE" sz="1800" dirty="0"/>
              <a:t>[7] </a:t>
            </a:r>
            <a:r>
              <a:rPr lang="de-DE" sz="1800" dirty="0">
                <a:hlinkClick r:id="rId8"/>
              </a:rPr>
              <a:t>https://www.jetbrains.com/help/idea/debugging-code.html</a:t>
            </a:r>
            <a:r>
              <a:rPr lang="de-DE" sz="1800" dirty="0"/>
              <a:t> - IntelliJ Debugger</a:t>
            </a:r>
          </a:p>
          <a:p>
            <a:r>
              <a:rPr lang="de-DE" sz="1800" dirty="0"/>
              <a:t>[8] </a:t>
            </a:r>
            <a:r>
              <a:rPr lang="de-DE" sz="1800" dirty="0">
                <a:hlinkClick r:id="rId9"/>
              </a:rPr>
              <a:t>https://www.eclipse.org/community/eclipse_newsletter/2017/june/article1.php</a:t>
            </a:r>
            <a:r>
              <a:rPr lang="de-DE" sz="1800" dirty="0"/>
              <a:t>  - Eclipse Debugger Einführung</a:t>
            </a:r>
          </a:p>
          <a:p>
            <a:r>
              <a:rPr lang="de-DE" sz="1800" dirty="0"/>
              <a:t>[9] </a:t>
            </a:r>
            <a:r>
              <a:rPr lang="de-DE" sz="1800" dirty="0">
                <a:hlinkClick r:id="rId10"/>
              </a:rPr>
              <a:t>https://help.eclipse.org/latest/nav/80</a:t>
            </a:r>
            <a:r>
              <a:rPr lang="de-DE" sz="1800" dirty="0"/>
              <a:t> - Debugging in Eclipse</a:t>
            </a:r>
          </a:p>
          <a:p>
            <a:r>
              <a:rPr lang="de-DE" sz="1800" dirty="0"/>
              <a:t> 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3011307591"/>
      </p:ext>
    </p:extLst>
  </p:cSld>
  <p:clrMapOvr>
    <a:masterClrMapping/>
  </p:clrMapOvr>
  <p:transition spd="slow">
    <p:push dir="u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F95D930D-7CE5-5F0B-A94B-779DE0EA68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42D915A4-28F2-E749-4085-85FB5A82A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771" y="3835706"/>
            <a:ext cx="3646447" cy="492443"/>
          </a:xfrm>
        </p:spPr>
        <p:txBody>
          <a:bodyPr/>
          <a:lstStyle/>
          <a:p>
            <a:r>
              <a:rPr lang="de-DE"/>
              <a:t>Weiteres Material</a:t>
            </a:r>
            <a:endParaRPr lang="en-DE"/>
          </a:p>
        </p:txBody>
      </p:sp>
      <p:sp>
        <p:nvSpPr>
          <p:cNvPr id="12" name="Untertitel 11">
            <a:extLst>
              <a:ext uri="{FF2B5EF4-FFF2-40B4-BE49-F238E27FC236}">
                <a16:creationId xmlns:a16="http://schemas.microsoft.com/office/drawing/2014/main" id="{D859FED3-3D54-A3F4-B7FF-D09E29CDF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F05F8443-A08C-F2D1-6BAA-05D2FDA392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C6860929-7608-C0FB-7F41-1629831AF3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65BCBAD5-5723-35CA-0177-F0CDAE1943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063859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9EC69F-5D9E-39F8-2ADA-EBFCBC50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Bonus – TDD nutzen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387ABA9-1702-8A15-1567-FD9206493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1800" dirty="0"/>
              <a:t>Nach Robert C. Martin gibt es drei Regeln des TDD: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800" dirty="0"/>
              <a:t>„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not </a:t>
            </a:r>
            <a:r>
              <a:rPr lang="de-DE" sz="1800" dirty="0" err="1"/>
              <a:t>allowed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write</a:t>
            </a:r>
            <a:r>
              <a:rPr lang="de-DE" sz="1800" dirty="0"/>
              <a:t> </a:t>
            </a:r>
            <a:r>
              <a:rPr lang="de-DE" sz="1800" dirty="0" err="1"/>
              <a:t>any</a:t>
            </a:r>
            <a:r>
              <a:rPr lang="de-DE" sz="1800" dirty="0"/>
              <a:t> </a:t>
            </a:r>
            <a:r>
              <a:rPr lang="de-DE" sz="1800" dirty="0" err="1"/>
              <a:t>production</a:t>
            </a:r>
            <a:r>
              <a:rPr lang="de-DE" sz="1800" dirty="0"/>
              <a:t> code </a:t>
            </a:r>
            <a:r>
              <a:rPr lang="de-DE" sz="1800" dirty="0" err="1"/>
              <a:t>unless</a:t>
            </a:r>
            <a:r>
              <a:rPr lang="de-DE" sz="1800" dirty="0"/>
              <a:t> </a:t>
            </a:r>
            <a:r>
              <a:rPr lang="de-DE" sz="1800" dirty="0" err="1"/>
              <a:t>it</a:t>
            </a:r>
            <a:r>
              <a:rPr lang="de-DE" sz="1800" dirty="0"/>
              <a:t> </a:t>
            </a:r>
            <a:r>
              <a:rPr lang="de-DE" sz="1800" dirty="0" err="1"/>
              <a:t>make</a:t>
            </a:r>
            <a:r>
              <a:rPr lang="de-DE" sz="1800" dirty="0"/>
              <a:t> </a:t>
            </a:r>
            <a:r>
              <a:rPr lang="de-DE" sz="1800" dirty="0" err="1"/>
              <a:t>failing</a:t>
            </a:r>
            <a:r>
              <a:rPr lang="de-DE" sz="1800" dirty="0"/>
              <a:t> </a:t>
            </a:r>
            <a:r>
              <a:rPr lang="de-DE" sz="1800" dirty="0" err="1"/>
              <a:t>unittest</a:t>
            </a:r>
            <a:r>
              <a:rPr lang="de-DE" sz="1800" dirty="0"/>
              <a:t> pass.“</a:t>
            </a:r>
          </a:p>
          <a:p>
            <a:r>
              <a:rPr lang="de-DE" sz="1800" dirty="0"/>
              <a:t>    -&gt; Du Brauchst einen fehlschlagenden Test um Code zu schreiben!</a:t>
            </a:r>
          </a:p>
          <a:p>
            <a:pPr marL="342900" indent="-342900">
              <a:buFont typeface="+mj-lt"/>
              <a:buAutoNum type="arabicPeriod" startAt="2"/>
            </a:pPr>
            <a:r>
              <a:rPr lang="de-DE" sz="1800" dirty="0"/>
              <a:t>„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not </a:t>
            </a:r>
            <a:r>
              <a:rPr lang="de-DE" sz="1800" dirty="0" err="1"/>
              <a:t>allowed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write</a:t>
            </a:r>
            <a:r>
              <a:rPr lang="de-DE" sz="1800" dirty="0"/>
              <a:t> </a:t>
            </a:r>
            <a:r>
              <a:rPr lang="de-DE" sz="1800" dirty="0" err="1"/>
              <a:t>any</a:t>
            </a:r>
            <a:r>
              <a:rPr lang="de-DE" sz="1800" dirty="0"/>
              <a:t> </a:t>
            </a:r>
            <a:r>
              <a:rPr lang="de-DE" sz="1800" dirty="0" err="1"/>
              <a:t>more</a:t>
            </a:r>
            <a:r>
              <a:rPr lang="de-DE" sz="1800" dirty="0"/>
              <a:t> </a:t>
            </a:r>
            <a:r>
              <a:rPr lang="de-DE" sz="1800" dirty="0" err="1"/>
              <a:t>of</a:t>
            </a:r>
            <a:r>
              <a:rPr lang="de-DE" sz="1800" dirty="0"/>
              <a:t> a </a:t>
            </a:r>
            <a:r>
              <a:rPr lang="de-DE" sz="1800" dirty="0" err="1"/>
              <a:t>unit</a:t>
            </a:r>
            <a:r>
              <a:rPr lang="de-DE" sz="1800" dirty="0"/>
              <a:t> </a:t>
            </a:r>
            <a:r>
              <a:rPr lang="de-DE" sz="1800" dirty="0" err="1"/>
              <a:t>test</a:t>
            </a:r>
            <a:r>
              <a:rPr lang="de-DE" sz="1800" dirty="0"/>
              <a:t> </a:t>
            </a:r>
            <a:r>
              <a:rPr lang="de-DE" sz="1800" dirty="0" err="1"/>
              <a:t>than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sufficient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fail; and </a:t>
            </a:r>
            <a:r>
              <a:rPr lang="de-DE" sz="1800" dirty="0" err="1"/>
              <a:t>compilation</a:t>
            </a:r>
            <a:r>
              <a:rPr lang="de-DE" sz="1800" dirty="0"/>
              <a:t> </a:t>
            </a:r>
            <a:r>
              <a:rPr lang="de-DE" sz="1800" dirty="0" err="1"/>
              <a:t>failures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</a:t>
            </a:r>
            <a:r>
              <a:rPr lang="de-DE" sz="1800" dirty="0" err="1"/>
              <a:t>failuers</a:t>
            </a:r>
            <a:r>
              <a:rPr lang="de-DE" sz="1800" dirty="0"/>
              <a:t>“</a:t>
            </a:r>
          </a:p>
          <a:p>
            <a:r>
              <a:rPr lang="de-DE" sz="1800" dirty="0"/>
              <a:t>    -&gt; Du darfst nicht mehr als einen fehlschlagenden Test schreiben!</a:t>
            </a:r>
          </a:p>
          <a:p>
            <a:pPr marL="342900" indent="-342900">
              <a:buFont typeface="+mj-lt"/>
              <a:buAutoNum type="arabicPeriod" startAt="3"/>
            </a:pPr>
            <a:r>
              <a:rPr lang="de-DE" sz="1800" dirty="0"/>
              <a:t>„</a:t>
            </a:r>
            <a:r>
              <a:rPr lang="de-DE" sz="1800" dirty="0" err="1"/>
              <a:t>You</a:t>
            </a:r>
            <a:r>
              <a:rPr lang="de-DE" sz="1800" dirty="0"/>
              <a:t> </a:t>
            </a:r>
            <a:r>
              <a:rPr lang="de-DE" sz="1800" dirty="0" err="1"/>
              <a:t>are</a:t>
            </a:r>
            <a:r>
              <a:rPr lang="de-DE" sz="1800" dirty="0"/>
              <a:t> not </a:t>
            </a:r>
            <a:r>
              <a:rPr lang="de-DE" sz="1800" dirty="0" err="1"/>
              <a:t>allowed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</a:t>
            </a:r>
            <a:r>
              <a:rPr lang="de-DE" sz="1800" dirty="0" err="1"/>
              <a:t>write</a:t>
            </a:r>
            <a:r>
              <a:rPr lang="de-DE" sz="1800" dirty="0"/>
              <a:t> </a:t>
            </a:r>
            <a:r>
              <a:rPr lang="de-DE" sz="1800" dirty="0" err="1"/>
              <a:t>any</a:t>
            </a:r>
            <a:r>
              <a:rPr lang="de-DE" sz="1800" dirty="0"/>
              <a:t> </a:t>
            </a:r>
            <a:r>
              <a:rPr lang="de-DE" sz="1800" dirty="0" err="1"/>
              <a:t>more</a:t>
            </a:r>
            <a:r>
              <a:rPr lang="de-DE" sz="1800" dirty="0"/>
              <a:t> </a:t>
            </a:r>
            <a:r>
              <a:rPr lang="de-DE" sz="1800" dirty="0" err="1"/>
              <a:t>production</a:t>
            </a:r>
            <a:r>
              <a:rPr lang="de-DE" sz="1800" dirty="0"/>
              <a:t> code </a:t>
            </a:r>
            <a:r>
              <a:rPr lang="de-DE" sz="1800" dirty="0" err="1"/>
              <a:t>than</a:t>
            </a:r>
            <a:r>
              <a:rPr lang="de-DE" sz="1800" dirty="0"/>
              <a:t> </a:t>
            </a:r>
            <a:r>
              <a:rPr lang="de-DE" sz="1800" dirty="0" err="1"/>
              <a:t>is</a:t>
            </a:r>
            <a:r>
              <a:rPr lang="de-DE" sz="1800" dirty="0"/>
              <a:t> </a:t>
            </a:r>
            <a:r>
              <a:rPr lang="de-DE" sz="1800" dirty="0" err="1"/>
              <a:t>sufficent</a:t>
            </a:r>
            <a:r>
              <a:rPr lang="de-DE" sz="1800" dirty="0"/>
              <a:t> </a:t>
            </a:r>
            <a:r>
              <a:rPr lang="de-DE" sz="1800" dirty="0" err="1"/>
              <a:t>to</a:t>
            </a:r>
            <a:r>
              <a:rPr lang="de-DE" sz="1800" dirty="0"/>
              <a:t> pass </a:t>
            </a:r>
            <a:r>
              <a:rPr lang="de-DE" sz="1800" dirty="0" err="1"/>
              <a:t>the</a:t>
            </a:r>
            <a:r>
              <a:rPr lang="de-DE" sz="1800" dirty="0"/>
              <a:t> </a:t>
            </a:r>
            <a:r>
              <a:rPr lang="de-DE" sz="1800" dirty="0" err="1"/>
              <a:t>one</a:t>
            </a:r>
            <a:r>
              <a:rPr lang="de-DE" sz="1800" dirty="0"/>
              <a:t> </a:t>
            </a:r>
            <a:r>
              <a:rPr lang="de-DE" sz="1800" dirty="0" err="1"/>
              <a:t>failing</a:t>
            </a:r>
            <a:r>
              <a:rPr lang="de-DE" sz="1800" dirty="0"/>
              <a:t> </a:t>
            </a:r>
            <a:r>
              <a:rPr lang="de-DE" sz="1800" dirty="0" err="1"/>
              <a:t>unit</a:t>
            </a:r>
            <a:r>
              <a:rPr lang="de-DE" sz="1800" dirty="0"/>
              <a:t> </a:t>
            </a:r>
            <a:r>
              <a:rPr lang="de-DE" sz="1800" dirty="0" err="1"/>
              <a:t>test</a:t>
            </a:r>
            <a:r>
              <a:rPr lang="de-DE" sz="1800" dirty="0"/>
              <a:t>.“ </a:t>
            </a:r>
          </a:p>
          <a:p>
            <a:r>
              <a:rPr lang="de-DE" sz="1800" dirty="0"/>
              <a:t>    -&gt; Schreib nur Code, der den einen Test erfüllt!</a:t>
            </a:r>
          </a:p>
          <a:p>
            <a:endParaRPr lang="de-DE" sz="1800" dirty="0"/>
          </a:p>
          <a:p>
            <a:r>
              <a:rPr lang="de-DE" sz="1800" dirty="0"/>
              <a:t>Siehe: </a:t>
            </a:r>
          </a:p>
          <a:p>
            <a:r>
              <a:rPr lang="de-DE" sz="1800" dirty="0">
                <a:hlinkClick r:id="rId2"/>
              </a:rPr>
              <a:t>https://www.youtube.com/watch?v=qkblc5WRn-U</a:t>
            </a:r>
            <a:endParaRPr lang="de-DE" sz="1800" dirty="0"/>
          </a:p>
          <a:p>
            <a:r>
              <a:rPr lang="de-DE" sz="1800" dirty="0">
                <a:hlinkClick r:id="rId3"/>
              </a:rPr>
              <a:t>https://youtu.be/58jGpV2Cg50?t=1300</a:t>
            </a:r>
            <a:r>
              <a:rPr lang="de-DE" sz="1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895401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4235DF-D059-7391-1545-92688686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Force Return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A79CBB0-64E9-BE59-35B4-F8993BCDE3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Innerhalb einer Methode kann jederzeit abgebrochen werden</a:t>
            </a:r>
          </a:p>
          <a:p>
            <a:pPr>
              <a:lnSpc>
                <a:spcPct val="150000"/>
              </a:lnSpc>
            </a:pPr>
            <a:r>
              <a:rPr lang="de-DE" sz="1800"/>
              <a:t>Angabe eines Rückgabewertes benötigt, wenn Rückgabetyp nicht </a:t>
            </a:r>
            <a:r>
              <a:rPr lang="de-DE" sz="1800" i="1" err="1"/>
              <a:t>void</a:t>
            </a:r>
            <a:r>
              <a:rPr lang="de-DE" sz="1800"/>
              <a:t> ist</a:t>
            </a:r>
            <a:endParaRPr lang="en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FDD5F5C-41D9-A2C0-A69A-8BC84059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817" y="2798230"/>
            <a:ext cx="5002117" cy="2982764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EAABA2D-C159-A557-8E27-6646EAA0C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083" y="2981005"/>
            <a:ext cx="2895676" cy="2024796"/>
          </a:xfrm>
          <a:prstGeom prst="rect">
            <a:avLst/>
          </a:prstGeom>
        </p:spPr>
      </p:pic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A39C5197-93EA-55F2-3A17-CBB814173719}"/>
              </a:ext>
            </a:extLst>
          </p:cNvPr>
          <p:cNvSpPr/>
          <p:nvPr/>
        </p:nvSpPr>
        <p:spPr>
          <a:xfrm>
            <a:off x="6246159" y="3859306"/>
            <a:ext cx="1580029" cy="7328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59193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CB80FD-02AE-51CF-E0F7-05169F49C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Jump </a:t>
            </a:r>
            <a:r>
              <a:rPr lang="de-DE" err="1"/>
              <a:t>to</a:t>
            </a:r>
            <a:r>
              <a:rPr lang="de-DE"/>
              <a:t> </a:t>
            </a:r>
            <a:r>
              <a:rPr lang="de-DE" err="1"/>
              <a:t>line</a:t>
            </a:r>
            <a:r>
              <a:rPr lang="de-DE"/>
              <a:t> </a:t>
            </a:r>
            <a:r>
              <a:rPr lang="de-DE" err="1"/>
              <a:t>intelliJ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F013E3A-5AFE-2EC7-93B9-855252EA4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 dirty="0"/>
              <a:t>Ein Plugin in der IntelliJ IDE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Erlaub das Überspringen von Befehlen</a:t>
            </a:r>
          </a:p>
          <a:p>
            <a:pPr>
              <a:lnSpc>
                <a:spcPct val="150000"/>
              </a:lnSpc>
            </a:pPr>
            <a:r>
              <a:rPr lang="de-DE" sz="1800" dirty="0"/>
              <a:t>Durch Wahl einer Zeile wird jeder Befehl von der aktuellen Zeile an bis zum Ziel übersprungen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27820775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A81F88-F295-751C-617D-D1D33262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jShell</a:t>
            </a:r>
            <a:r>
              <a:rPr lang="de-DE"/>
              <a:t> – Konsole zum schnellen testen</a:t>
            </a:r>
            <a:endParaRPr lang="en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1FAC7D-648E-02B3-3A20-034FF7DA4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de-DE" sz="1800"/>
              <a:t>Neu seit Java 9</a:t>
            </a:r>
          </a:p>
          <a:p>
            <a:pPr>
              <a:lnSpc>
                <a:spcPct val="150000"/>
              </a:lnSpc>
            </a:pPr>
            <a:r>
              <a:rPr lang="de-DE" sz="1800"/>
              <a:t>Erlaubt Entwicklung als laufender Anwendung</a:t>
            </a:r>
          </a:p>
          <a:p>
            <a:pPr>
              <a:lnSpc>
                <a:spcPct val="150000"/>
              </a:lnSpc>
            </a:pPr>
            <a:r>
              <a:rPr lang="de-DE" sz="1800"/>
              <a:t>Klassen werden in der Kommandozeile definiert</a:t>
            </a:r>
          </a:p>
          <a:p>
            <a:pPr>
              <a:lnSpc>
                <a:spcPct val="150000"/>
              </a:lnSpc>
            </a:pPr>
            <a:r>
              <a:rPr lang="de-DE" sz="1800"/>
              <a:t>Ähnlich wie Python (das Kommando)</a:t>
            </a:r>
          </a:p>
          <a:p>
            <a:pPr>
              <a:lnSpc>
                <a:spcPct val="150000"/>
              </a:lnSpc>
            </a:pPr>
            <a:r>
              <a:rPr lang="de-DE" sz="1800"/>
              <a:t>Gut zum schnellen Testen</a:t>
            </a:r>
          </a:p>
          <a:p>
            <a:pPr>
              <a:lnSpc>
                <a:spcPct val="150000"/>
              </a:lnSpc>
            </a:pPr>
            <a:endParaRPr lang="en-DE" sz="1800"/>
          </a:p>
        </p:txBody>
      </p:sp>
    </p:spTree>
    <p:extLst>
      <p:ext uri="{BB962C8B-B14F-4D97-AF65-F5344CB8AC3E}">
        <p14:creationId xmlns:p14="http://schemas.microsoft.com/office/powerpoint/2010/main" val="21644764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BFCAC6-AA3F-B473-1E94-E37F7F641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Debugging im Terminal </a:t>
            </a:r>
            <a:br>
              <a:rPr lang="de-DE"/>
            </a:br>
            <a:r>
              <a:rPr lang="de-DE"/>
              <a:t>Debugger JDB</a:t>
            </a:r>
          </a:p>
        </p:txBody>
      </p:sp>
      <p:pic>
        <p:nvPicPr>
          <p:cNvPr id="5" name="Inhaltsplatzhalter 4" descr="Ein Bild, das Text, Screenshot enthält.&#10;&#10;Automatisch generierte Beschreibung">
            <a:extLst>
              <a:ext uri="{FF2B5EF4-FFF2-40B4-BE49-F238E27FC236}">
                <a16:creationId xmlns:a16="http://schemas.microsoft.com/office/drawing/2014/main" id="{E45F1D27-CD71-ADC3-99C9-B749C408D9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787" y="786941"/>
            <a:ext cx="8232501" cy="5284117"/>
          </a:xfrm>
        </p:spPr>
      </p:pic>
    </p:spTree>
    <p:extLst>
      <p:ext uri="{BB962C8B-B14F-4D97-AF65-F5344CB8AC3E}">
        <p14:creationId xmlns:p14="http://schemas.microsoft.com/office/powerpoint/2010/main" val="226243308"/>
      </p:ext>
    </p:extLst>
  </p:cSld>
  <p:clrMapOvr>
    <a:masterClrMapping/>
  </p:clrMapOvr>
</p:sld>
</file>

<file path=ppt/theme/theme1.xml><?xml version="1.0" encoding="utf-8"?>
<a:theme xmlns:a="http://schemas.openxmlformats.org/drawingml/2006/main" name="TUD_2018_16zu9">
  <a:themeElements>
    <a:clrScheme name="TUD_2021-08_grün">
      <a:dk1>
        <a:srgbClr val="000000"/>
      </a:dk1>
      <a:lt1>
        <a:sysClr val="window" lastClr="FFFFFF"/>
      </a:lt1>
      <a:dk2>
        <a:srgbClr val="727277"/>
      </a:dk2>
      <a:lt2>
        <a:srgbClr val="FFFFFF"/>
      </a:lt2>
      <a:accent1>
        <a:srgbClr val="00305D"/>
      </a:accent1>
      <a:accent2>
        <a:srgbClr val="0069B4"/>
      </a:accent2>
      <a:accent3>
        <a:srgbClr val="009FE3"/>
      </a:accent3>
      <a:accent4>
        <a:srgbClr val="008244"/>
      </a:accent4>
      <a:accent5>
        <a:srgbClr val="65B32E"/>
      </a:accent5>
      <a:accent6>
        <a:srgbClr val="94C356"/>
      </a:accent6>
      <a:hlink>
        <a:srgbClr val="0069B4"/>
      </a:hlink>
      <a:folHlink>
        <a:srgbClr val="009FE3"/>
      </a:folHlink>
    </a:clrScheme>
    <a:fontScheme name="TUD_Open Sans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2.02_TUD_PPT_16zu9_Vorlage.potx" id="{1D20F812-EF2F-4F6E-A998-39A0DA713C42}" vid="{473D011A-93C6-4584-843E-D45E5AE833FE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2022-03_TUD_PPT_16zu9_Vorlage</Template>
  <TotalTime>0</TotalTime>
  <Words>3599</Words>
  <Application>Microsoft Office PowerPoint</Application>
  <PresentationFormat>Breitbild</PresentationFormat>
  <Paragraphs>564</Paragraphs>
  <Slides>55</Slides>
  <Notes>32</Notes>
  <HiddenSlides>5</HiddenSlides>
  <MMClips>0</MMClips>
  <ScaleCrop>false</ScaleCrop>
  <HeadingPairs>
    <vt:vector size="8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55</vt:i4>
      </vt:variant>
      <vt:variant>
        <vt:lpstr>Zielgruppenorientierte Präsentationen</vt:lpstr>
      </vt:variant>
      <vt:variant>
        <vt:i4>1</vt:i4>
      </vt:variant>
    </vt:vector>
  </HeadingPairs>
  <TitlesOfParts>
    <vt:vector size="64" baseType="lpstr">
      <vt:lpstr>Arial</vt:lpstr>
      <vt:lpstr>Calibri</vt:lpstr>
      <vt:lpstr>JetBrains Mono</vt:lpstr>
      <vt:lpstr>Open Sans</vt:lpstr>
      <vt:lpstr>Symbol</vt:lpstr>
      <vt:lpstr>Trebuchet MS</vt:lpstr>
      <vt:lpstr>Wingdings</vt:lpstr>
      <vt:lpstr>TUD_2018_16zu9</vt:lpstr>
      <vt:lpstr>Debugging mit IDEs</vt:lpstr>
      <vt:lpstr>Inhalt</vt:lpstr>
      <vt:lpstr>Ziele</vt:lpstr>
      <vt:lpstr>Was wird benötigt</vt:lpstr>
      <vt:lpstr>Von der Idee über die Entwicklung zum Profit </vt:lpstr>
      <vt:lpstr>Bugs</vt:lpstr>
      <vt:lpstr>Finde den Fehler!</vt:lpstr>
      <vt:lpstr>System.out.print()</vt:lpstr>
      <vt:lpstr>Logging ist nicht viel besser</vt:lpstr>
      <vt:lpstr>Stack Trace - Den Ort des Fehlers eingrenzen</vt:lpstr>
      <vt:lpstr>Stack Trace – Beispiel 1</vt:lpstr>
      <vt:lpstr>Stack Trace – Beispiel 2</vt:lpstr>
      <vt:lpstr>Stack Trace – Beispiel 3</vt:lpstr>
      <vt:lpstr>Stack Trace – Beispiel 4</vt:lpstr>
      <vt:lpstr>Der Debug-Modus</vt:lpstr>
      <vt:lpstr>Elemente eines Debuggers</vt:lpstr>
      <vt:lpstr>PowerPoint-Präsentation</vt:lpstr>
      <vt:lpstr>Der Breakpoint</vt:lpstr>
      <vt:lpstr>Bedingte Breakpoints</vt:lpstr>
      <vt:lpstr>PowerPoint-Präsentation</vt:lpstr>
      <vt:lpstr>Das Programmfenster</vt:lpstr>
      <vt:lpstr>Schritt für Schritt zum Fehler</vt:lpstr>
      <vt:lpstr>Variablen-Fenster</vt:lpstr>
      <vt:lpstr>Variablen-Fenster – Verändern von Werten</vt:lpstr>
      <vt:lpstr>Frame Stack-Fenster</vt:lpstr>
      <vt:lpstr>Extra Fenster - Memory</vt:lpstr>
      <vt:lpstr>Weitere Hilfen</vt:lpstr>
      <vt:lpstr>Andere Sprachen</vt:lpstr>
      <vt:lpstr>Andere Sprachen</vt:lpstr>
      <vt:lpstr>Tests</vt:lpstr>
      <vt:lpstr>Tests können mehr als public testen</vt:lpstr>
      <vt:lpstr>Tests müssen nicht private testen</vt:lpstr>
      <vt:lpstr>JUNIT 5.11.0 [4] – Neue Features ab 5.0</vt:lpstr>
      <vt:lpstr>Tests in einer IDE </vt:lpstr>
      <vt:lpstr>Arten von Testergebnissen </vt:lpstr>
      <vt:lpstr>Arten von Testergebnissen </vt:lpstr>
      <vt:lpstr>Die Bibliothek - Anforderungen</vt:lpstr>
      <vt:lpstr>Die Bibliothek - Situation </vt:lpstr>
      <vt:lpstr>Die Bibliothek - Aufgabe</vt:lpstr>
      <vt:lpstr>Elemente, die in Java 8+ neu sind  </vt:lpstr>
      <vt:lpstr>Die Bibliothek - Klassendiagramm</vt:lpstr>
      <vt:lpstr>Die Bibliothek - Klassendiagramm</vt:lpstr>
      <vt:lpstr>Die Bibliothek - Klassendiagramm</vt:lpstr>
      <vt:lpstr>Die Bibliothek - Klassendiagramm</vt:lpstr>
      <vt:lpstr>Die Bibliothek – Tests analysieren</vt:lpstr>
      <vt:lpstr>Lösung</vt:lpstr>
      <vt:lpstr>Zusammenfassung</vt:lpstr>
      <vt:lpstr>Fürs Selbststudium</vt:lpstr>
      <vt:lpstr>Literatur</vt:lpstr>
      <vt:lpstr>Weiteres Material</vt:lpstr>
      <vt:lpstr>Bonus – TDD nutzen</vt:lpstr>
      <vt:lpstr>Force Return</vt:lpstr>
      <vt:lpstr>Jump to line intelliJ</vt:lpstr>
      <vt:lpstr>jShell – Konsole zum schnellen testen</vt:lpstr>
      <vt:lpstr>Debugging im Terminal  Debugger JDB</vt:lpstr>
      <vt:lpstr>NUR DEBUGGING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Debuggen mit IDEs</dc:title>
  <dc:creator>Oliver Geisel</dc:creator>
  <cp:lastModifiedBy>Oliver Geisel</cp:lastModifiedBy>
  <cp:revision>3</cp:revision>
  <dcterms:created xsi:type="dcterms:W3CDTF">2022-04-19T09:43:59Z</dcterms:created>
  <dcterms:modified xsi:type="dcterms:W3CDTF">2025-06-22T22:02:32Z</dcterms:modified>
</cp:coreProperties>
</file>